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vnd.openxmlformats-officedocument.vmlDrawing" Extension="vml"/>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spreadsheetml.sheet" PartName="/ppt/embeddings/Microsoft_Excel_Sheet3.xlsx"/>
  <Override ContentType="application/vnd.openxmlformats-officedocument.spreadsheetml.sheet" PartName="/ppt/embeddings/Microsoft_Excel_Sheet2.xlsx"/>
  <Override ContentType="application/vnd.openxmlformats-officedocument.spreadsheetml.sheet" PartName="/ppt/embeddings/Microsoft_Excel_Sheet1.xlsx"/>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gwkbzzsdC8RZ48q+gIb3vnIb1Iz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4E8F32A-6143-49AB-A528-08F98D252B2C}">
  <a:tblStyle styleId="{84E8F32A-6143-49AB-A528-08F98D252B2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t-I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type="title">
  <p:cSld name="TITLE">
    <p:spTree>
      <p:nvGrpSpPr>
        <p:cNvPr id="15" name="Shape 15"/>
        <p:cNvGrpSpPr/>
        <p:nvPr/>
      </p:nvGrpSpPr>
      <p:grpSpPr>
        <a:xfrm>
          <a:off x="0" y="0"/>
          <a:ext cx="0" cy="0"/>
          <a:chOff x="0" y="0"/>
          <a:chExt cx="0" cy="0"/>
        </a:xfrm>
      </p:grpSpPr>
      <p:sp>
        <p:nvSpPr>
          <p:cNvPr id="16" name="Google Shape;16;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21" name="Shape 21"/>
        <p:cNvGrpSpPr/>
        <p:nvPr/>
      </p:nvGrpSpPr>
      <p:grpSpPr>
        <a:xfrm>
          <a:off x="0" y="0"/>
          <a:ext cx="0" cy="0"/>
          <a:chOff x="0" y="0"/>
          <a:chExt cx="0" cy="0"/>
        </a:xfrm>
      </p:grpSpPr>
      <p:sp>
        <p:nvSpPr>
          <p:cNvPr id="22" name="Google Shape;22;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27" name="Shape 27"/>
        <p:cNvGrpSpPr/>
        <p:nvPr/>
      </p:nvGrpSpPr>
      <p:grpSpPr>
        <a:xfrm>
          <a:off x="0" y="0"/>
          <a:ext cx="0" cy="0"/>
          <a:chOff x="0" y="0"/>
          <a:chExt cx="0" cy="0"/>
        </a:xfrm>
      </p:grpSpPr>
      <p:sp>
        <p:nvSpPr>
          <p:cNvPr id="28" name="Google Shape;28;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33" name="Shape 33"/>
        <p:cNvGrpSpPr/>
        <p:nvPr/>
      </p:nvGrpSpPr>
      <p:grpSpPr>
        <a:xfrm>
          <a:off x="0" y="0"/>
          <a:ext cx="0" cy="0"/>
          <a:chOff x="0" y="0"/>
          <a:chExt cx="0" cy="0"/>
        </a:xfrm>
      </p:grpSpPr>
      <p:sp>
        <p:nvSpPr>
          <p:cNvPr id="34" name="Google Shape;34;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40" name="Shape 40"/>
        <p:cNvGrpSpPr/>
        <p:nvPr/>
      </p:nvGrpSpPr>
      <p:grpSpPr>
        <a:xfrm>
          <a:off x="0" y="0"/>
          <a:ext cx="0" cy="0"/>
          <a:chOff x="0" y="0"/>
          <a:chExt cx="0" cy="0"/>
        </a:xfrm>
      </p:grpSpPr>
      <p:sp>
        <p:nvSpPr>
          <p:cNvPr id="41" name="Google Shape;41;p3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49" name="Shape 49"/>
        <p:cNvGrpSpPr/>
        <p:nvPr/>
      </p:nvGrpSpPr>
      <p:grpSpPr>
        <a:xfrm>
          <a:off x="0" y="0"/>
          <a:ext cx="0" cy="0"/>
          <a:chOff x="0" y="0"/>
          <a:chExt cx="0" cy="0"/>
        </a:xfrm>
      </p:grpSpPr>
      <p:sp>
        <p:nvSpPr>
          <p:cNvPr id="50" name="Google Shape;50;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54" name="Shape 54"/>
        <p:cNvGrpSpPr/>
        <p:nvPr/>
      </p:nvGrpSpPr>
      <p:grpSpPr>
        <a:xfrm>
          <a:off x="0" y="0"/>
          <a:ext cx="0" cy="0"/>
          <a:chOff x="0" y="0"/>
          <a:chExt cx="0" cy="0"/>
        </a:xfrm>
      </p:grpSpPr>
      <p:sp>
        <p:nvSpPr>
          <p:cNvPr id="55" name="Google Shape;55;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58" name="Shape 58"/>
        <p:cNvGrpSpPr/>
        <p:nvPr/>
      </p:nvGrpSpPr>
      <p:grpSpPr>
        <a:xfrm>
          <a:off x="0" y="0"/>
          <a:ext cx="0" cy="0"/>
          <a:chOff x="0" y="0"/>
          <a:chExt cx="0" cy="0"/>
        </a:xfrm>
      </p:grpSpPr>
      <p:sp>
        <p:nvSpPr>
          <p:cNvPr id="59" name="Google Shape;59;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65" name="Shape 65"/>
        <p:cNvGrpSpPr/>
        <p:nvPr/>
      </p:nvGrpSpPr>
      <p:grpSpPr>
        <a:xfrm>
          <a:off x="0" y="0"/>
          <a:ext cx="0" cy="0"/>
          <a:chOff x="0" y="0"/>
          <a:chExt cx="0" cy="0"/>
        </a:xfrm>
      </p:grpSpPr>
      <p:sp>
        <p:nvSpPr>
          <p:cNvPr id="66" name="Google Shape;66;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7"/>
          <p:cNvSpPr/>
          <p:nvPr>
            <p:ph idx="2" type="pic"/>
          </p:nvPr>
        </p:nvSpPr>
        <p:spPr>
          <a:xfrm>
            <a:off x="5183188" y="987425"/>
            <a:ext cx="6172200" cy="4873625"/>
          </a:xfrm>
          <a:prstGeom prst="rect">
            <a:avLst/>
          </a:prstGeom>
          <a:noFill/>
          <a:ln>
            <a:noFill/>
          </a:ln>
        </p:spPr>
      </p:sp>
      <p:sp>
        <p:nvSpPr>
          <p:cNvPr id="68" name="Google Shape;68;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72" name="Shape 72"/>
        <p:cNvGrpSpPr/>
        <p:nvPr/>
      </p:nvGrpSpPr>
      <p:grpSpPr>
        <a:xfrm>
          <a:off x="0" y="0"/>
          <a:ext cx="0" cy="0"/>
          <a:chOff x="0" y="0"/>
          <a:chExt cx="0" cy="0"/>
        </a:xfrm>
      </p:grpSpPr>
      <p:sp>
        <p:nvSpPr>
          <p:cNvPr id="73" name="Google Shape;73;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78" name="Shape 78"/>
        <p:cNvGrpSpPr/>
        <p:nvPr/>
      </p:nvGrpSpPr>
      <p:grpSpPr>
        <a:xfrm>
          <a:off x="0" y="0"/>
          <a:ext cx="0" cy="0"/>
          <a:chOff x="0" y="0"/>
          <a:chExt cx="0" cy="0"/>
        </a:xfrm>
      </p:grpSpPr>
      <p:sp>
        <p:nvSpPr>
          <p:cNvPr id="79" name="Google Shape;79;p3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vmlDrawing" Target="../drawings/vmlDrawing1.vml"/><Relationship Id="rId4" Type="http://schemas.openxmlformats.org/officeDocument/2006/relationships/package" Target="../embeddings/Microsoft_Excel_Sheet1.xlsx"/><Relationship Id="rId5" Type="http://schemas.openxmlformats.org/officeDocument/2006/relationships/package" Target="../embeddings/Microsoft_Excel_Sheet1.xlsx"/><Relationship Id="rId6"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3.png"/><Relationship Id="rId8"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vmlDrawing" Target="../drawings/vmlDrawing2.vml"/><Relationship Id="rId4" Type="http://schemas.openxmlformats.org/officeDocument/2006/relationships/package" Target="../embeddings/Microsoft_Excel_Sheet2.xlsx"/><Relationship Id="rId9" Type="http://schemas.openxmlformats.org/officeDocument/2006/relationships/image" Target="../media/image13.png"/><Relationship Id="rId5" Type="http://schemas.openxmlformats.org/officeDocument/2006/relationships/package" Target="../embeddings/Microsoft_Excel_Sheet2.xlsx"/><Relationship Id="rId6" Type="http://schemas.openxmlformats.org/officeDocument/2006/relationships/image" Target="../media/image10.png"/><Relationship Id="rId7" Type="http://schemas.openxmlformats.org/officeDocument/2006/relationships/image" Target="../media/image9.png"/><Relationship Id="rId8"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vmlDrawing" Target="../drawings/vmlDrawing3.vml"/><Relationship Id="rId4" Type="http://schemas.openxmlformats.org/officeDocument/2006/relationships/package" Target="../embeddings/Microsoft_Excel_Sheet3.xlsx"/><Relationship Id="rId5" Type="http://schemas.openxmlformats.org/officeDocument/2006/relationships/package" Target="../embeddings/Microsoft_Excel_Sheet3.xlsx"/><Relationship Id="rId6"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nvSpPr>
        <p:spPr>
          <a:xfrm>
            <a:off x="3226559" y="2224164"/>
            <a:ext cx="6093600" cy="175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it-IT" sz="3600" u="none" cap="none" strike="noStrike">
                <a:solidFill>
                  <a:schemeClr val="dk1"/>
                </a:solidFill>
                <a:latin typeface="Arial"/>
                <a:ea typeface="Arial"/>
                <a:cs typeface="Arial"/>
                <a:sym typeface="Arial"/>
              </a:rPr>
              <a:t>QuLearnLabs AI-SEQ</a:t>
            </a:r>
            <a:endParaRPr/>
          </a:p>
          <a:p>
            <a:pPr indent="0" lvl="0" marL="0" marR="0" rtl="0" algn="ctr">
              <a:spcBef>
                <a:spcPts val="0"/>
              </a:spcBef>
              <a:spcAft>
                <a:spcPts val="0"/>
              </a:spcAft>
              <a:buNone/>
            </a:pPr>
            <a:r>
              <a:rPr b="0" i="0" lang="it-IT" sz="3600" u="none" cap="none" strike="noStrike">
                <a:solidFill>
                  <a:schemeClr val="dk1"/>
                </a:solidFill>
                <a:latin typeface="Arial"/>
                <a:ea typeface="Arial"/>
                <a:cs typeface="Arial"/>
                <a:sym typeface="Arial"/>
              </a:rPr>
              <a:t> </a:t>
            </a:r>
            <a:endParaRPr/>
          </a:p>
          <a:p>
            <a:pPr indent="0" lvl="0" marL="0" marR="0" rtl="0" algn="ctr">
              <a:spcBef>
                <a:spcPts val="0"/>
              </a:spcBef>
              <a:spcAft>
                <a:spcPts val="0"/>
              </a:spcAft>
              <a:buNone/>
            </a:pPr>
            <a:r>
              <a:rPr b="0" i="0" lang="it-IT" sz="3600" u="none" cap="none" strike="noStrike">
                <a:solidFill>
                  <a:schemeClr val="dk1"/>
                </a:solidFill>
                <a:latin typeface="Arial"/>
                <a:ea typeface="Arial"/>
                <a:cs typeface="Arial"/>
                <a:sym typeface="Arial"/>
              </a:rPr>
              <a:t> PQC Learning Module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What is Post-Quantum Cryptography (PQC)?</a:t>
            </a:r>
            <a:endParaRPr sz="2800">
              <a:latin typeface="Arial"/>
              <a:ea typeface="Arial"/>
              <a:cs typeface="Arial"/>
              <a:sym typeface="Arial"/>
            </a:endParaRPr>
          </a:p>
        </p:txBody>
      </p:sp>
      <p:sp>
        <p:nvSpPr>
          <p:cNvPr id="94" name="Google Shape;94;p2"/>
          <p:cNvSpPr txBox="1"/>
          <p:nvPr>
            <p:ph idx="1" type="body"/>
          </p:nvPr>
        </p:nvSpPr>
        <p:spPr>
          <a:xfrm>
            <a:off x="838200" y="1825625"/>
            <a:ext cx="10515600" cy="221411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b="1" lang="it-IT" sz="1800" u="none" strike="noStrike">
                <a:latin typeface="Arial"/>
                <a:ea typeface="Arial"/>
                <a:cs typeface="Arial"/>
                <a:sym typeface="Arial"/>
              </a:rPr>
              <a:t>Definition and importance in modern security.</a:t>
            </a:r>
            <a:endParaRPr sz="1800" u="none" strike="noStrike">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p>
        </p:txBody>
      </p:sp>
      <p:sp>
        <p:nvSpPr>
          <p:cNvPr id="95" name="Google Shape;95;p2"/>
          <p:cNvSpPr txBox="1"/>
          <p:nvPr/>
        </p:nvSpPr>
        <p:spPr>
          <a:xfrm>
            <a:off x="1083860" y="2191456"/>
            <a:ext cx="9547746"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it-IT" sz="1800" u="none" cap="none" strike="noStrike">
                <a:solidFill>
                  <a:schemeClr val="dk1"/>
                </a:solidFill>
                <a:latin typeface="Arial"/>
                <a:ea typeface="Arial"/>
                <a:cs typeface="Arial"/>
                <a:sym typeface="Arial"/>
              </a:rPr>
              <a:t>Post-quantum cryptography (PQC) is quantum resistant cryptography based on algorithms implemented in “classical” computers ( in the same way as RSA, DH, and ECDSA)</a:t>
            </a:r>
            <a:endParaRPr/>
          </a:p>
          <a:p>
            <a:pPr indent="0" lvl="0" marL="0" marR="0" rtl="0" algn="l">
              <a:spcBef>
                <a:spcPts val="0"/>
              </a:spcBef>
              <a:spcAft>
                <a:spcPts val="0"/>
              </a:spcAft>
              <a:buNone/>
            </a:pPr>
            <a:r>
              <a:rPr i="1" lang="it-IT" sz="1800">
                <a:solidFill>
                  <a:schemeClr val="dk1"/>
                </a:solidFill>
                <a:latin typeface="Arial"/>
                <a:ea typeface="Arial"/>
                <a:cs typeface="Arial"/>
                <a:sym typeface="Arial"/>
              </a:rPr>
              <a:t>to be secure against attacks by both classical and quantum computers</a:t>
            </a:r>
            <a:endParaRPr/>
          </a:p>
          <a:p>
            <a:pPr indent="0" lvl="0" marL="0" marR="0" rtl="0" algn="l">
              <a:spcBef>
                <a:spcPts val="0"/>
              </a:spcBef>
              <a:spcAft>
                <a:spcPts val="0"/>
              </a:spcAft>
              <a:buNone/>
            </a:pPr>
            <a:r>
              <a:t/>
            </a:r>
            <a:endParaRPr i="1"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it-IT" sz="1800">
                <a:solidFill>
                  <a:schemeClr val="dk1"/>
                </a:solidFill>
                <a:latin typeface="Arial"/>
                <a:ea typeface="Arial"/>
                <a:cs typeface="Arial"/>
                <a:sym typeface="Arial"/>
              </a:rPr>
              <a:t>It is different from </a:t>
            </a:r>
            <a:r>
              <a:rPr lang="it-IT" sz="1800" u="sng">
                <a:solidFill>
                  <a:schemeClr val="dk1"/>
                </a:solidFill>
                <a:latin typeface="Arial"/>
                <a:ea typeface="Arial"/>
                <a:cs typeface="Arial"/>
                <a:sym typeface="Arial"/>
              </a:rPr>
              <a:t>quantum cryptography </a:t>
            </a:r>
            <a:r>
              <a:rPr lang="it-IT" sz="1800">
                <a:solidFill>
                  <a:schemeClr val="dk1"/>
                </a:solidFill>
                <a:latin typeface="Arial"/>
                <a:ea typeface="Arial"/>
                <a:cs typeface="Arial"/>
                <a:sym typeface="Arial"/>
              </a:rPr>
              <a:t>or </a:t>
            </a:r>
            <a:r>
              <a:rPr lang="it-IT" sz="1800" u="sng">
                <a:solidFill>
                  <a:schemeClr val="dk1"/>
                </a:solidFill>
                <a:latin typeface="Arial"/>
                <a:ea typeface="Arial"/>
                <a:cs typeface="Arial"/>
                <a:sym typeface="Arial"/>
              </a:rPr>
              <a:t>quantum key distribution </a:t>
            </a:r>
            <a:r>
              <a:rPr lang="it-IT" sz="1800">
                <a:solidFill>
                  <a:schemeClr val="dk1"/>
                </a:solidFill>
                <a:latin typeface="Arial"/>
                <a:ea typeface="Arial"/>
                <a:cs typeface="Arial"/>
                <a:sym typeface="Arial"/>
              </a:rPr>
              <a:t>(QKD)</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2"/>
          <p:cNvSpPr txBox="1"/>
          <p:nvPr/>
        </p:nvSpPr>
        <p:spPr>
          <a:xfrm>
            <a:off x="1083860" y="4588612"/>
            <a:ext cx="5958385" cy="1200329"/>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it-IT" sz="1800">
                <a:solidFill>
                  <a:schemeClr val="dk1"/>
                </a:solidFill>
                <a:latin typeface="Arial"/>
                <a:ea typeface="Arial"/>
                <a:cs typeface="Arial"/>
                <a:sym typeface="Arial"/>
              </a:rPr>
              <a:t>$8 Trillion is the total </a:t>
            </a:r>
            <a:r>
              <a:rPr b="1" lang="it-IT" sz="1800">
                <a:solidFill>
                  <a:schemeClr val="dk1"/>
                </a:solidFill>
                <a:latin typeface="Arial"/>
                <a:ea typeface="Arial"/>
                <a:cs typeface="Arial"/>
                <a:sym typeface="Arial"/>
              </a:rPr>
              <a:t>global cybercrime </a:t>
            </a:r>
            <a:r>
              <a:rPr lang="it-IT" sz="1800">
                <a:solidFill>
                  <a:schemeClr val="dk1"/>
                </a:solidFill>
                <a:latin typeface="Arial"/>
                <a:ea typeface="Arial"/>
                <a:cs typeface="Arial"/>
                <a:sym typeface="Arial"/>
              </a:rPr>
              <a:t>cost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it-IT" sz="1800">
                <a:solidFill>
                  <a:schemeClr val="dk1"/>
                </a:solidFill>
                <a:latin typeface="Arial"/>
                <a:ea typeface="Arial"/>
                <a:cs typeface="Arial"/>
                <a:sym typeface="Arial"/>
              </a:rPr>
              <a:t>$4.45 Million is the average cost of a single </a:t>
            </a:r>
            <a:r>
              <a:rPr b="1" lang="it-IT" sz="1800">
                <a:solidFill>
                  <a:schemeClr val="dk1"/>
                </a:solidFill>
                <a:latin typeface="Arial"/>
                <a:ea typeface="Arial"/>
                <a:cs typeface="Arial"/>
                <a:sym typeface="Arial"/>
              </a:rPr>
              <a:t>data breach </a:t>
            </a:r>
            <a:r>
              <a:rPr lang="it-IT" sz="1800">
                <a:solidFill>
                  <a:schemeClr val="dk1"/>
                </a:solidFill>
                <a:latin typeface="Arial"/>
                <a:ea typeface="Arial"/>
                <a:cs typeface="Arial"/>
                <a:sym typeface="Arial"/>
              </a:rPr>
              <a:t>worldwide</a:t>
            </a:r>
            <a:endParaRPr sz="1800">
              <a:solidFill>
                <a:schemeClr val="dk1"/>
              </a:solidFill>
              <a:latin typeface="Arial"/>
              <a:ea typeface="Arial"/>
              <a:cs typeface="Arial"/>
              <a:sym typeface="Arial"/>
            </a:endParaRPr>
          </a:p>
        </p:txBody>
      </p:sp>
      <p:pic>
        <p:nvPicPr>
          <p:cNvPr descr="Digital Security: come proteggerti se sei un'azienda?" id="97" name="Google Shape;97;p2"/>
          <p:cNvPicPr preferRelativeResize="0"/>
          <p:nvPr/>
        </p:nvPicPr>
        <p:blipFill rotWithShape="1">
          <a:blip r:embed="rId3">
            <a:alphaModFix/>
          </a:blip>
          <a:srcRect b="0" l="0" r="0" t="0"/>
          <a:stretch/>
        </p:blipFill>
        <p:spPr>
          <a:xfrm>
            <a:off x="7572795" y="4318251"/>
            <a:ext cx="2895038" cy="193243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The Threat of Quantum Computing</a:t>
            </a:r>
            <a:endParaRPr sz="2800">
              <a:latin typeface="Arial"/>
              <a:ea typeface="Arial"/>
              <a:cs typeface="Arial"/>
              <a:sym typeface="Arial"/>
            </a:endParaRPr>
          </a:p>
        </p:txBody>
      </p:sp>
      <p:sp>
        <p:nvSpPr>
          <p:cNvPr id="103" name="Google Shape;103;p3"/>
          <p:cNvSpPr txBox="1"/>
          <p:nvPr>
            <p:ph idx="1" type="body"/>
          </p:nvPr>
        </p:nvSpPr>
        <p:spPr>
          <a:xfrm>
            <a:off x="838200" y="1449394"/>
            <a:ext cx="10515600" cy="468817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b="1" lang="it-IT" sz="1800" u="none" strike="noStrike">
                <a:latin typeface="Arial"/>
                <a:ea typeface="Arial"/>
                <a:cs typeface="Arial"/>
                <a:sym typeface="Arial"/>
              </a:rPr>
              <a:t>Shor’s Algorithm and its impact on RSA/ECC</a:t>
            </a:r>
            <a:endParaRPr/>
          </a:p>
          <a:p>
            <a:pPr indent="0" lvl="0" marL="0" rtl="0" algn="l">
              <a:lnSpc>
                <a:spcPct val="90000"/>
              </a:lnSpc>
              <a:spcBef>
                <a:spcPts val="1000"/>
              </a:spcBef>
              <a:spcAft>
                <a:spcPts val="0"/>
              </a:spcAft>
              <a:buClr>
                <a:schemeClr val="dk1"/>
              </a:buClr>
              <a:buSzPts val="1600"/>
              <a:buNone/>
            </a:pPr>
            <a:r>
              <a:rPr lang="it-IT" sz="1600">
                <a:latin typeface="Arial"/>
                <a:ea typeface="Arial"/>
                <a:cs typeface="Arial"/>
                <a:sym typeface="Arial"/>
              </a:rPr>
              <a:t>Shor’s algorithm, developed by Peter Shor in 1994 while at AT&amp;T Bell Labs, is a quantum algorithm designed        to </a:t>
            </a:r>
            <a:r>
              <a:rPr lang="it-IT" sz="1600" u="sng">
                <a:latin typeface="Arial"/>
                <a:ea typeface="Arial"/>
                <a:cs typeface="Arial"/>
                <a:sym typeface="Arial"/>
              </a:rPr>
              <a:t>factorize large integers </a:t>
            </a:r>
            <a:r>
              <a:rPr lang="it-IT" sz="1600">
                <a:latin typeface="Arial"/>
                <a:ea typeface="Arial"/>
                <a:cs typeface="Arial"/>
                <a:sym typeface="Arial"/>
              </a:rPr>
              <a:t>and solve discrete logarithm problems efficiently because is exponentially faster than classical methods</a:t>
            </a:r>
            <a:endParaRPr/>
          </a:p>
          <a:p>
            <a:pPr indent="0" lvl="0" marL="0" rtl="0" algn="l">
              <a:lnSpc>
                <a:spcPct val="90000"/>
              </a:lnSpc>
              <a:spcBef>
                <a:spcPts val="1000"/>
              </a:spcBef>
              <a:spcAft>
                <a:spcPts val="0"/>
              </a:spcAft>
              <a:buClr>
                <a:schemeClr val="dk1"/>
              </a:buClr>
              <a:buSzPts val="1600"/>
              <a:buNone/>
            </a:pPr>
            <a:r>
              <a:t/>
            </a:r>
            <a:endParaRPr sz="1600">
              <a:latin typeface="Arial"/>
              <a:ea typeface="Arial"/>
              <a:cs typeface="Arial"/>
              <a:sym typeface="Arial"/>
            </a:endParaRPr>
          </a:p>
          <a:p>
            <a:pPr indent="0" lvl="0" marL="0" rtl="0" algn="l">
              <a:lnSpc>
                <a:spcPct val="90000"/>
              </a:lnSpc>
              <a:spcBef>
                <a:spcPts val="1000"/>
              </a:spcBef>
              <a:spcAft>
                <a:spcPts val="0"/>
              </a:spcAft>
              <a:buClr>
                <a:srgbClr val="000000"/>
              </a:buClr>
              <a:buSzPts val="1600"/>
              <a:buNone/>
            </a:pPr>
            <a:r>
              <a:rPr b="0" i="0" lang="it-IT" sz="1600" u="none" strike="noStrike">
                <a:solidFill>
                  <a:srgbClr val="000000"/>
                </a:solidFill>
                <a:latin typeface="Arial"/>
                <a:ea typeface="Arial"/>
                <a:cs typeface="Arial"/>
                <a:sym typeface="Arial"/>
              </a:rPr>
              <a:t> “2048-bit RSA key → cracked in hours.”</a:t>
            </a:r>
            <a:endParaRPr/>
          </a:p>
          <a:p>
            <a:pPr indent="0" lvl="0" marL="0" rtl="0" algn="l">
              <a:lnSpc>
                <a:spcPct val="90000"/>
              </a:lnSpc>
              <a:spcBef>
                <a:spcPts val="1000"/>
              </a:spcBef>
              <a:spcAft>
                <a:spcPts val="0"/>
              </a:spcAft>
              <a:buClr>
                <a:schemeClr val="dk1"/>
              </a:buClr>
              <a:buSzPts val="1600"/>
              <a:buNone/>
            </a:pPr>
            <a:r>
              <a:t/>
            </a:r>
            <a:endParaRPr b="1" sz="1600" u="none" strike="noStrike">
              <a:latin typeface="Arial"/>
              <a:ea typeface="Arial"/>
              <a:cs typeface="Arial"/>
              <a:sym typeface="Arial"/>
            </a:endParaRPr>
          </a:p>
          <a:p>
            <a:pPr indent="0" lvl="0" marL="0" rtl="0" algn="l">
              <a:lnSpc>
                <a:spcPct val="90000"/>
              </a:lnSpc>
              <a:spcBef>
                <a:spcPts val="1000"/>
              </a:spcBef>
              <a:spcAft>
                <a:spcPts val="0"/>
              </a:spcAft>
              <a:buClr>
                <a:schemeClr val="dk1"/>
              </a:buClr>
              <a:buSzPts val="1600"/>
              <a:buNone/>
            </a:pPr>
            <a:r>
              <a:t/>
            </a:r>
            <a:endParaRPr b="1" sz="1600">
              <a:latin typeface="Arial"/>
              <a:ea typeface="Arial"/>
              <a:cs typeface="Arial"/>
              <a:sym typeface="Arial"/>
            </a:endParaRPr>
          </a:p>
          <a:p>
            <a:pPr indent="0" lvl="0" marL="0" rtl="0" algn="l">
              <a:lnSpc>
                <a:spcPct val="90000"/>
              </a:lnSpc>
              <a:spcBef>
                <a:spcPts val="1000"/>
              </a:spcBef>
              <a:spcAft>
                <a:spcPts val="0"/>
              </a:spcAft>
              <a:buClr>
                <a:schemeClr val="dk1"/>
              </a:buClr>
              <a:buSzPts val="1800"/>
              <a:buNone/>
            </a:pPr>
            <a:r>
              <a:rPr b="1" lang="it-IT" sz="1800" u="none" strike="noStrike">
                <a:latin typeface="Arial"/>
                <a:ea typeface="Arial"/>
                <a:cs typeface="Arial"/>
                <a:sym typeface="Arial"/>
              </a:rPr>
              <a:t>Grover’s Algorithm and its effect on symmetric cryptography</a:t>
            </a:r>
            <a:endParaRPr/>
          </a:p>
          <a:p>
            <a:pPr indent="0" lvl="0" marL="0" rtl="0" algn="l">
              <a:lnSpc>
                <a:spcPct val="90000"/>
              </a:lnSpc>
              <a:spcBef>
                <a:spcPts val="1000"/>
              </a:spcBef>
              <a:spcAft>
                <a:spcPts val="0"/>
              </a:spcAft>
              <a:buClr>
                <a:schemeClr val="dk1"/>
              </a:buClr>
              <a:buSzPts val="1600"/>
              <a:buNone/>
            </a:pPr>
            <a:r>
              <a:rPr lang="it-IT" sz="1600">
                <a:latin typeface="Arial"/>
                <a:ea typeface="Arial"/>
                <a:cs typeface="Arial"/>
                <a:sym typeface="Arial"/>
              </a:rPr>
              <a:t>In the world of cryptography, symmetric systems like AES (Advanced Encryption Standard) and hash functions like SHA-256 are the workhorses of data security, encrypting everything from bank transactions to medical records But the rise of quantum computing introduces a challenge: Grover’s algorithm. </a:t>
            </a:r>
            <a:endParaRPr/>
          </a:p>
          <a:p>
            <a:pPr indent="0" lvl="0" marL="0" rtl="0" algn="l">
              <a:lnSpc>
                <a:spcPct val="90000"/>
              </a:lnSpc>
              <a:spcBef>
                <a:spcPts val="1000"/>
              </a:spcBef>
              <a:spcAft>
                <a:spcPts val="0"/>
              </a:spcAft>
              <a:buClr>
                <a:schemeClr val="dk1"/>
              </a:buClr>
              <a:buSzPts val="1600"/>
              <a:buNone/>
            </a:pPr>
            <a:r>
              <a:rPr lang="it-IT" sz="1600">
                <a:latin typeface="Arial"/>
                <a:ea typeface="Arial"/>
                <a:cs typeface="Arial"/>
                <a:sym typeface="Arial"/>
              </a:rPr>
              <a:t>Developed by Lov Grover in 1996, this quantum algorithm doesn’t break symmetric cryptography outright—like Shor’s does to RSA—but it weakens its strength, forcing us to rethink key sizes and future-proofing strategies  because Grover’s algorithm finds a specific item in an unsorted list faster than any classical method </a:t>
            </a:r>
            <a:r>
              <a:rPr b="0" i="0" lang="it-IT" sz="1600" u="none" strike="noStrike">
                <a:solidFill>
                  <a:srgbClr val="000000"/>
                </a:solidFill>
                <a:latin typeface="Arial"/>
                <a:ea typeface="Arial"/>
                <a:cs typeface="Arial"/>
                <a:sym typeface="Arial"/>
              </a:rPr>
              <a:t>→</a:t>
            </a:r>
            <a:r>
              <a:rPr lang="it-IT" sz="1600">
                <a:latin typeface="Arial"/>
                <a:ea typeface="Arial"/>
                <a:cs typeface="Arial"/>
                <a:sym typeface="Arial"/>
              </a:rPr>
              <a:t> this “list” could be </a:t>
            </a:r>
            <a:r>
              <a:rPr lang="it-IT" sz="1600" u="sng">
                <a:latin typeface="Arial"/>
                <a:ea typeface="Arial"/>
                <a:cs typeface="Arial"/>
                <a:sym typeface="Arial"/>
              </a:rPr>
              <a:t>all possible keys </a:t>
            </a:r>
            <a:r>
              <a:rPr lang="it-IT" sz="1600">
                <a:latin typeface="Arial"/>
                <a:ea typeface="Arial"/>
                <a:cs typeface="Arial"/>
                <a:sym typeface="Arial"/>
              </a:rPr>
              <a:t>for an encryption system</a:t>
            </a:r>
            <a:endParaRPr/>
          </a:p>
          <a:p>
            <a:pPr indent="0" lvl="0" marL="0" rtl="0" algn="l">
              <a:lnSpc>
                <a:spcPct val="90000"/>
              </a:lnSpc>
              <a:spcBef>
                <a:spcPts val="1000"/>
              </a:spcBef>
              <a:spcAft>
                <a:spcPts val="0"/>
              </a:spcAft>
              <a:buClr>
                <a:schemeClr val="dk1"/>
              </a:buClr>
              <a:buSzPts val="1600"/>
              <a:buNone/>
            </a:pPr>
            <a:r>
              <a:t/>
            </a:r>
            <a:endParaRPr sz="1600">
              <a:latin typeface="Arial"/>
              <a:ea typeface="Arial"/>
              <a:cs typeface="Arial"/>
              <a:sym typeface="Arial"/>
            </a:endParaRPr>
          </a:p>
          <a:p>
            <a:pPr indent="0" lvl="0" marL="0" rtl="0" algn="l">
              <a:lnSpc>
                <a:spcPct val="90000"/>
              </a:lnSpc>
              <a:spcBef>
                <a:spcPts val="1000"/>
              </a:spcBef>
              <a:spcAft>
                <a:spcPts val="0"/>
              </a:spcAft>
              <a:buClr>
                <a:schemeClr val="dk1"/>
              </a:buClr>
              <a:buSzPts val="1900"/>
              <a:buNone/>
            </a:pPr>
            <a:r>
              <a:t/>
            </a:r>
            <a:endParaRPr sz="1900">
              <a:latin typeface="Arial"/>
              <a:ea typeface="Arial"/>
              <a:cs typeface="Arial"/>
              <a:sym typeface="Arial"/>
            </a:endParaRPr>
          </a:p>
          <a:p>
            <a:pPr indent="0" lvl="0" marL="0" rtl="0" algn="l">
              <a:lnSpc>
                <a:spcPct val="90000"/>
              </a:lnSpc>
              <a:spcBef>
                <a:spcPts val="1000"/>
              </a:spcBef>
              <a:spcAft>
                <a:spcPts val="0"/>
              </a:spcAft>
              <a:buClr>
                <a:schemeClr val="dk1"/>
              </a:buClr>
              <a:buSzPts val="1600"/>
              <a:buNone/>
            </a:pPr>
            <a:r>
              <a:t/>
            </a:r>
            <a:endParaRPr sz="1600">
              <a:latin typeface="Arial"/>
              <a:ea typeface="Arial"/>
              <a:cs typeface="Arial"/>
              <a:sym typeface="Arial"/>
            </a:endParaRPr>
          </a:p>
          <a:p>
            <a:pPr indent="0" lvl="0" marL="0" rtl="0" algn="l">
              <a:lnSpc>
                <a:spcPct val="90000"/>
              </a:lnSpc>
              <a:spcBef>
                <a:spcPts val="1000"/>
              </a:spcBef>
              <a:spcAft>
                <a:spcPts val="0"/>
              </a:spcAft>
              <a:buClr>
                <a:schemeClr val="dk1"/>
              </a:buClr>
              <a:buSzPts val="1600"/>
              <a:buNone/>
            </a:pPr>
            <a:r>
              <a:rPr lang="it-IT" sz="1600">
                <a:latin typeface="Arial"/>
                <a:ea typeface="Arial"/>
                <a:cs typeface="Arial"/>
                <a:sym typeface="Arial"/>
              </a:rPr>
              <a:t> </a:t>
            </a:r>
            <a:endParaRPr/>
          </a:p>
          <a:p>
            <a:pPr indent="0" lvl="0" marL="0" rtl="0" algn="l">
              <a:lnSpc>
                <a:spcPct val="90000"/>
              </a:lnSpc>
              <a:spcBef>
                <a:spcPts val="1000"/>
              </a:spcBef>
              <a:spcAft>
                <a:spcPts val="0"/>
              </a:spcAft>
              <a:buClr>
                <a:schemeClr val="dk1"/>
              </a:buClr>
              <a:buSzPts val="1600"/>
              <a:buNone/>
            </a:pPr>
            <a:r>
              <a:t/>
            </a:r>
            <a:endParaRPr sz="1600">
              <a:latin typeface="Arial"/>
              <a:ea typeface="Arial"/>
              <a:cs typeface="Arial"/>
              <a:sym typeface="Arial"/>
            </a:endParaRPr>
          </a:p>
        </p:txBody>
      </p:sp>
      <p:pic>
        <p:nvPicPr>
          <p:cNvPr id="104" name="Google Shape;104;p3"/>
          <p:cNvPicPr preferRelativeResize="0"/>
          <p:nvPr/>
        </p:nvPicPr>
        <p:blipFill rotWithShape="1">
          <a:blip r:embed="rId3">
            <a:alphaModFix/>
          </a:blip>
          <a:srcRect b="0" l="0" r="0" t="0"/>
          <a:stretch/>
        </p:blipFill>
        <p:spPr>
          <a:xfrm>
            <a:off x="8093417" y="3206664"/>
            <a:ext cx="2513216" cy="539046"/>
          </a:xfrm>
          <a:prstGeom prst="rect">
            <a:avLst/>
          </a:prstGeom>
          <a:noFill/>
          <a:ln>
            <a:noFill/>
          </a:ln>
        </p:spPr>
      </p:pic>
      <p:pic>
        <p:nvPicPr>
          <p:cNvPr id="105" name="Google Shape;105;p3"/>
          <p:cNvPicPr preferRelativeResize="0"/>
          <p:nvPr/>
        </p:nvPicPr>
        <p:blipFill rotWithShape="1">
          <a:blip r:embed="rId4">
            <a:alphaModFix/>
          </a:blip>
          <a:srcRect b="0" l="0" r="0" t="0"/>
          <a:stretch/>
        </p:blipFill>
        <p:spPr>
          <a:xfrm>
            <a:off x="5429366" y="2364515"/>
            <a:ext cx="5177267" cy="106448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Why PQC Matters Now?</a:t>
            </a:r>
            <a:endParaRPr sz="2800">
              <a:latin typeface="Arial"/>
              <a:ea typeface="Arial"/>
              <a:cs typeface="Arial"/>
              <a:sym typeface="Arial"/>
            </a:endParaRPr>
          </a:p>
        </p:txBody>
      </p:sp>
      <p:sp>
        <p:nvSpPr>
          <p:cNvPr id="111" name="Google Shape;111;p4"/>
          <p:cNvSpPr txBox="1"/>
          <p:nvPr>
            <p:ph idx="1" type="body"/>
          </p:nvPr>
        </p:nvSpPr>
        <p:spPr>
          <a:xfrm>
            <a:off x="942108" y="1825624"/>
            <a:ext cx="10667999" cy="479684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b="1" lang="it-IT" sz="1800" u="none" strike="noStrike">
                <a:latin typeface="Arial"/>
                <a:ea typeface="Arial"/>
                <a:cs typeface="Arial"/>
                <a:sym typeface="Arial"/>
              </a:rPr>
              <a:t>"Harvest Now, Decrypt Later" attacks.</a:t>
            </a:r>
            <a:endParaRPr/>
          </a:p>
          <a:p>
            <a:pPr indent="0" lvl="0" marL="0" rtl="0" algn="l">
              <a:lnSpc>
                <a:spcPct val="90000"/>
              </a:lnSpc>
              <a:spcBef>
                <a:spcPts val="1000"/>
              </a:spcBef>
              <a:spcAft>
                <a:spcPts val="0"/>
              </a:spcAft>
              <a:buClr>
                <a:schemeClr val="dk1"/>
              </a:buClr>
              <a:buSzPts val="1600"/>
              <a:buNone/>
            </a:pPr>
            <a:r>
              <a:rPr lang="it-IT" sz="1600" u="none" strike="noStrike">
                <a:latin typeface="Arial"/>
                <a:ea typeface="Arial"/>
                <a:cs typeface="Arial"/>
                <a:sym typeface="Arial"/>
              </a:rPr>
              <a:t>HNDL refers to a strategy where attackers collect encrypted data today—using classical cryptography like RSA, ECC, or AES—knowing it’s secure against current classical computers.</a:t>
            </a:r>
            <a:endParaRPr/>
          </a:p>
          <a:p>
            <a:pPr indent="0" lvl="0" marL="0" rtl="0" algn="l">
              <a:lnSpc>
                <a:spcPct val="90000"/>
              </a:lnSpc>
              <a:spcBef>
                <a:spcPts val="1000"/>
              </a:spcBef>
              <a:spcAft>
                <a:spcPts val="0"/>
              </a:spcAft>
              <a:buClr>
                <a:schemeClr val="dk1"/>
              </a:buClr>
              <a:buSzPts val="1600"/>
              <a:buNone/>
            </a:pPr>
            <a:r>
              <a:rPr lang="it-IT" sz="1600" u="none" strike="noStrike">
                <a:latin typeface="Arial"/>
                <a:ea typeface="Arial"/>
                <a:cs typeface="Arial"/>
                <a:sym typeface="Arial"/>
              </a:rPr>
              <a:t>They store this data, waiting for future quantum computers to crack it with algorithms like Shor’s or Grover’s.</a:t>
            </a:r>
            <a:endParaRPr/>
          </a:p>
          <a:p>
            <a:pPr indent="-114300" lvl="0" marL="228600" rtl="0" algn="l">
              <a:lnSpc>
                <a:spcPct val="90000"/>
              </a:lnSpc>
              <a:spcBef>
                <a:spcPts val="1000"/>
              </a:spcBef>
              <a:spcAft>
                <a:spcPts val="0"/>
              </a:spcAft>
              <a:buClr>
                <a:schemeClr val="dk1"/>
              </a:buClr>
              <a:buSzPts val="1800"/>
              <a:buNone/>
            </a:pPr>
            <a:r>
              <a:t/>
            </a:r>
            <a:endParaRPr b="1" sz="1800" u="none" strike="noStrike">
              <a:latin typeface="Arial"/>
              <a:ea typeface="Arial"/>
              <a:cs typeface="Arial"/>
              <a:sym typeface="Arial"/>
            </a:endParaRPr>
          </a:p>
          <a:p>
            <a:pPr indent="0" lvl="0" marL="0" rtl="0" algn="l">
              <a:lnSpc>
                <a:spcPct val="90000"/>
              </a:lnSpc>
              <a:spcBef>
                <a:spcPts val="1000"/>
              </a:spcBef>
              <a:spcAft>
                <a:spcPts val="0"/>
              </a:spcAft>
              <a:buClr>
                <a:schemeClr val="dk1"/>
              </a:buClr>
              <a:buSzPts val="1800"/>
              <a:buNone/>
            </a:pPr>
            <a:r>
              <a:rPr b="1" lang="it-IT" sz="1800" u="none" strike="noStrike">
                <a:latin typeface="Arial"/>
                <a:ea typeface="Arial"/>
                <a:cs typeface="Arial"/>
                <a:sym typeface="Arial"/>
              </a:rPr>
              <a:t>The timeline for quantum computing advancements.</a:t>
            </a:r>
            <a:endParaRPr/>
          </a:p>
          <a:p>
            <a:pPr indent="0" lvl="0" marL="0" rtl="0" algn="l">
              <a:lnSpc>
                <a:spcPct val="90000"/>
              </a:lnSpc>
              <a:spcBef>
                <a:spcPts val="1000"/>
              </a:spcBef>
              <a:spcAft>
                <a:spcPts val="0"/>
              </a:spcAft>
              <a:buClr>
                <a:schemeClr val="dk1"/>
              </a:buClr>
              <a:buSzPts val="1600"/>
              <a:buNone/>
            </a:pPr>
            <a:r>
              <a:rPr lang="it-IT" sz="1600">
                <a:latin typeface="Arial"/>
                <a:ea typeface="Arial"/>
                <a:cs typeface="Arial"/>
                <a:sym typeface="Arial"/>
              </a:rPr>
              <a:t>PQC replaces classical cryptography with algorithms resistant to quantum attacks, neutralizing the HNDL threat:</a:t>
            </a:r>
            <a:endParaRPr/>
          </a:p>
          <a:p>
            <a:pPr indent="-228600" lvl="0" marL="228600" rtl="0" algn="l">
              <a:lnSpc>
                <a:spcPct val="90000"/>
              </a:lnSpc>
              <a:spcBef>
                <a:spcPts val="1000"/>
              </a:spcBef>
              <a:spcAft>
                <a:spcPts val="0"/>
              </a:spcAft>
              <a:buClr>
                <a:schemeClr val="dk1"/>
              </a:buClr>
              <a:buSzPts val="1600"/>
              <a:buFont typeface="Noto Sans Symbols"/>
              <a:buChar char="❑"/>
            </a:pPr>
            <a:r>
              <a:rPr lang="it-IT" sz="1600">
                <a:latin typeface="Arial"/>
                <a:ea typeface="Arial"/>
                <a:cs typeface="Arial"/>
                <a:sym typeface="Arial"/>
              </a:rPr>
              <a:t>Quantum Resistance:  </a:t>
            </a:r>
            <a:endParaRPr/>
          </a:p>
          <a:p>
            <a:pPr indent="0" lvl="0" marL="0" rtl="0" algn="l">
              <a:lnSpc>
                <a:spcPct val="90000"/>
              </a:lnSpc>
              <a:spcBef>
                <a:spcPts val="1000"/>
              </a:spcBef>
              <a:spcAft>
                <a:spcPts val="0"/>
              </a:spcAft>
              <a:buClr>
                <a:schemeClr val="dk1"/>
              </a:buClr>
              <a:buSzPts val="1600"/>
              <a:buNone/>
            </a:pPr>
            <a:r>
              <a:rPr lang="it-IT" sz="1600">
                <a:latin typeface="Arial"/>
                <a:ea typeface="Arial"/>
                <a:cs typeface="Arial"/>
                <a:sym typeface="Arial"/>
              </a:rPr>
              <a:t>Algorithms like CRYSTALS-Kyber (key exchange) and CRYSTALS-Dilithium (signatures) use lattice-based problems—no known quantum algorithm (Shor’s or Grover’s) can solve them efficiently.  </a:t>
            </a:r>
            <a:endParaRPr/>
          </a:p>
          <a:p>
            <a:pPr indent="0" lvl="0" marL="0" rtl="0" algn="l">
              <a:lnSpc>
                <a:spcPct val="90000"/>
              </a:lnSpc>
              <a:spcBef>
                <a:spcPts val="1000"/>
              </a:spcBef>
              <a:spcAft>
                <a:spcPts val="0"/>
              </a:spcAft>
              <a:buClr>
                <a:schemeClr val="dk1"/>
              </a:buClr>
              <a:buSzPts val="1600"/>
              <a:buNone/>
            </a:pPr>
            <a:r>
              <a:rPr lang="it-IT" sz="1600">
                <a:latin typeface="Arial"/>
                <a:ea typeface="Arial"/>
                <a:cs typeface="Arial"/>
                <a:sym typeface="Arial"/>
              </a:rPr>
              <a:t>NIST’s standards (e.g., FIPS 203–205, finalized 2024) ensure PQC withstands future quantum computers.</a:t>
            </a:r>
            <a:endParaRPr/>
          </a:p>
          <a:p>
            <a:pPr indent="-228600" lvl="0" marL="228600" rtl="0" algn="l">
              <a:lnSpc>
                <a:spcPct val="90000"/>
              </a:lnSpc>
              <a:spcBef>
                <a:spcPts val="1000"/>
              </a:spcBef>
              <a:spcAft>
                <a:spcPts val="0"/>
              </a:spcAft>
              <a:buClr>
                <a:schemeClr val="dk1"/>
              </a:buClr>
              <a:buSzPts val="1600"/>
              <a:buFont typeface="Noto Sans Symbols"/>
              <a:buChar char="❑"/>
            </a:pPr>
            <a:r>
              <a:rPr lang="it-IT" sz="1600">
                <a:latin typeface="Arial"/>
                <a:ea typeface="Arial"/>
                <a:cs typeface="Arial"/>
                <a:sym typeface="Arial"/>
              </a:rPr>
              <a:t>Proactive Defense:  </a:t>
            </a:r>
            <a:endParaRPr/>
          </a:p>
          <a:p>
            <a:pPr indent="0" lvl="0" marL="0" rtl="0" algn="l">
              <a:lnSpc>
                <a:spcPct val="90000"/>
              </a:lnSpc>
              <a:spcBef>
                <a:spcPts val="1000"/>
              </a:spcBef>
              <a:spcAft>
                <a:spcPts val="0"/>
              </a:spcAft>
              <a:buClr>
                <a:schemeClr val="dk1"/>
              </a:buClr>
              <a:buSzPts val="1600"/>
              <a:buNone/>
            </a:pPr>
            <a:r>
              <a:rPr lang="it-IT" sz="1600">
                <a:latin typeface="Arial"/>
                <a:ea typeface="Arial"/>
                <a:cs typeface="Arial"/>
                <a:sym typeface="Arial"/>
              </a:rPr>
              <a:t>Encrypting with PQC today means data harvested in 2025 stays secure, even if quantum computers arrive in 2035. </a:t>
            </a:r>
            <a:endParaRPr/>
          </a:p>
          <a:p>
            <a:pPr indent="0" lvl="0" marL="0" rtl="0" algn="l">
              <a:lnSpc>
                <a:spcPct val="90000"/>
              </a:lnSpc>
              <a:spcBef>
                <a:spcPts val="1000"/>
              </a:spcBef>
              <a:spcAft>
                <a:spcPts val="0"/>
              </a:spcAft>
              <a:buClr>
                <a:schemeClr val="dk1"/>
              </a:buClr>
              <a:buSzPts val="1600"/>
              <a:buNone/>
            </a:pPr>
            <a:r>
              <a:rPr lang="it-IT" sz="1600">
                <a:latin typeface="Arial"/>
                <a:ea typeface="Arial"/>
                <a:cs typeface="Arial"/>
                <a:sym typeface="Arial"/>
              </a:rPr>
              <a:t>Example: A Kyber-encrypted healthcare record from 2025 remains unreadable, unlike an RSA-encrypted one.</a:t>
            </a:r>
            <a:endParaRPr/>
          </a:p>
          <a:p>
            <a:pPr indent="-127000" lvl="0" marL="228600" rtl="0" algn="l">
              <a:lnSpc>
                <a:spcPct val="90000"/>
              </a:lnSpc>
              <a:spcBef>
                <a:spcPts val="1000"/>
              </a:spcBef>
              <a:spcAft>
                <a:spcPts val="0"/>
              </a:spcAft>
              <a:buClr>
                <a:schemeClr val="dk1"/>
              </a:buClr>
              <a:buSzPts val="1600"/>
              <a:buFont typeface="Noto Sans Symbols"/>
              <a:buNone/>
            </a:pPr>
            <a:r>
              <a:t/>
            </a:r>
            <a:endParaRPr sz="1600">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Difference Between QKD and PQC</a:t>
            </a:r>
            <a:endParaRPr sz="2800">
              <a:latin typeface="Arial"/>
              <a:ea typeface="Arial"/>
              <a:cs typeface="Arial"/>
              <a:sym typeface="Arial"/>
            </a:endParaRPr>
          </a:p>
        </p:txBody>
      </p:sp>
      <p:sp>
        <p:nvSpPr>
          <p:cNvPr id="117" name="Google Shape;117;p5"/>
          <p:cNvSpPr txBox="1"/>
          <p:nvPr>
            <p:ph idx="1" type="body"/>
          </p:nvPr>
        </p:nvSpPr>
        <p:spPr>
          <a:xfrm>
            <a:off x="872836" y="1690688"/>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b="1" lang="it-IT" sz="1800" u="none" strike="noStrike">
                <a:latin typeface="Arial"/>
                <a:ea typeface="Arial"/>
                <a:cs typeface="Arial"/>
                <a:sym typeface="Arial"/>
              </a:rPr>
              <a:t>Quantum Key Distribution (QKD) vs. cryptographic algorithms.</a:t>
            </a:r>
            <a:endParaRPr/>
          </a:p>
          <a:p>
            <a:pPr indent="0" lvl="0" marL="0" rtl="0" algn="l">
              <a:lnSpc>
                <a:spcPct val="90000"/>
              </a:lnSpc>
              <a:spcBef>
                <a:spcPts val="1000"/>
              </a:spcBef>
              <a:spcAft>
                <a:spcPts val="0"/>
              </a:spcAft>
              <a:buClr>
                <a:schemeClr val="dk1"/>
              </a:buClr>
              <a:buSzPts val="2800"/>
              <a:buNone/>
            </a:pPr>
            <a:r>
              <a:t/>
            </a:r>
            <a:endParaRPr/>
          </a:p>
        </p:txBody>
      </p:sp>
      <p:graphicFrame>
        <p:nvGraphicFramePr>
          <p:cNvPr id="118" name="Google Shape;118;p5"/>
          <p:cNvGraphicFramePr/>
          <p:nvPr/>
        </p:nvGraphicFramePr>
        <p:xfrm>
          <a:off x="1706493" y="2268970"/>
          <a:ext cx="3000000" cy="3000000"/>
        </p:xfrm>
        <a:graphic>
          <a:graphicData uri="http://schemas.openxmlformats.org/drawingml/2006/table">
            <a:tbl>
              <a:tblPr>
                <a:noFill/>
                <a:tableStyleId>{84E8F32A-6143-49AB-A528-08F98D252B2C}</a:tableStyleId>
              </a:tblPr>
              <a:tblGrid>
                <a:gridCol w="2926350"/>
                <a:gridCol w="2926350"/>
                <a:gridCol w="2926350"/>
              </a:tblGrid>
              <a:tr h="534375">
                <a:tc>
                  <a:txBody>
                    <a:bodyPr/>
                    <a:lstStyle/>
                    <a:p>
                      <a:pPr indent="0" lvl="0" marL="0" marR="0" rtl="0" algn="l">
                        <a:spcBef>
                          <a:spcPts val="0"/>
                        </a:spcBef>
                        <a:spcAft>
                          <a:spcPts val="0"/>
                        </a:spcAft>
                        <a:buNone/>
                      </a:pPr>
                      <a:r>
                        <a:rPr b="1" lang="it-IT" sz="1500" u="none" cap="none" strike="noStrike">
                          <a:solidFill>
                            <a:srgbClr val="000000"/>
                          </a:solidFill>
                          <a:latin typeface="Arial"/>
                          <a:ea typeface="Arial"/>
                          <a:cs typeface="Arial"/>
                          <a:sym typeface="Arial"/>
                        </a:rPr>
                        <a:t>Aspect</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c>
                  <a:txBody>
                    <a:bodyPr/>
                    <a:lstStyle/>
                    <a:p>
                      <a:pPr indent="0" lvl="0" marL="0" marR="0" rtl="0" algn="l">
                        <a:spcBef>
                          <a:spcPts val="0"/>
                        </a:spcBef>
                        <a:spcAft>
                          <a:spcPts val="0"/>
                        </a:spcAft>
                        <a:buNone/>
                      </a:pPr>
                      <a:r>
                        <a:rPr b="1" lang="it-IT" sz="1500" u="none" cap="none" strike="noStrike">
                          <a:solidFill>
                            <a:srgbClr val="000000"/>
                          </a:solidFill>
                          <a:latin typeface="Arial"/>
                          <a:ea typeface="Arial"/>
                          <a:cs typeface="Arial"/>
                          <a:sym typeface="Arial"/>
                        </a:rPr>
                        <a:t>Quantum Key Distribution (QKD)</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c>
                  <a:txBody>
                    <a:bodyPr/>
                    <a:lstStyle/>
                    <a:p>
                      <a:pPr indent="0" lvl="0" marL="0" marR="0" rtl="0" algn="l">
                        <a:spcBef>
                          <a:spcPts val="0"/>
                        </a:spcBef>
                        <a:spcAft>
                          <a:spcPts val="0"/>
                        </a:spcAft>
                        <a:buNone/>
                      </a:pPr>
                      <a:r>
                        <a:rPr b="1" lang="it-IT" sz="1500" u="none" cap="none" strike="noStrike">
                          <a:solidFill>
                            <a:srgbClr val="000000"/>
                          </a:solidFill>
                          <a:latin typeface="Arial"/>
                          <a:ea typeface="Arial"/>
                          <a:cs typeface="Arial"/>
                          <a:sym typeface="Arial"/>
                        </a:rPr>
                        <a:t>Cryptographic Algorithms (Classical/PQC)</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r>
              <a:tr h="534375">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Basis</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Physics (quantum mechanics)</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Mathematics (computational hardness)</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r>
              <a:tr h="534375">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Quantum Resistance</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Inherent—immune to Shor’s/Grover’s</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Classical: Vulnerable; </a:t>
                      </a:r>
                      <a:endParaRPr/>
                    </a:p>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PQC: Resistant</a:t>
                      </a:r>
                      <a:endParaRPr sz="1500" u="none" cap="none" strike="noStrike">
                        <a:solidFill>
                          <a:srgbClr val="000000"/>
                        </a:solidFill>
                        <a:latin typeface="Arial"/>
                        <a:ea typeface="Arial"/>
                        <a:cs typeface="Arial"/>
                        <a:sym typeface="Arial"/>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r>
              <a:tr h="534375">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Key Sharing</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Secure via quantum channel</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Via algorithms (e.g., RSA, Kyber)</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r>
              <a:tr h="534375">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Hardware</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Quantum devices (e.g., photon sources)</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Standard computers</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r>
              <a:tr h="305350">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Range</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Limited (~100–1,000 km)</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Unlimited (e.g., internet)</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r>
              <a:tr h="534375">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Use Case</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High-security key exchange (e.g., banks)</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General encryption (e.g., web, IoT)</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r>
              <a:tr h="305350">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Examples</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BB84, E91 protocols</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RSA, AES, Kyber, Dilithium</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r>
              <a:tr h="534375">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Adoption (2025)</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Niche (e.g., government, research)</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c>
                  <a:txBody>
                    <a:bodyPr/>
                    <a:lstStyle/>
                    <a:p>
                      <a:pPr indent="0" lvl="0" marL="0" marR="0" rtl="0" algn="l">
                        <a:spcBef>
                          <a:spcPts val="0"/>
                        </a:spcBef>
                        <a:spcAft>
                          <a:spcPts val="0"/>
                        </a:spcAft>
                        <a:buNone/>
                      </a:pPr>
                      <a:r>
                        <a:rPr lang="it-IT" sz="1500" u="none" cap="none" strike="noStrike">
                          <a:solidFill>
                            <a:srgbClr val="000000"/>
                          </a:solidFill>
                          <a:latin typeface="Arial"/>
                          <a:ea typeface="Arial"/>
                          <a:cs typeface="Arial"/>
                          <a:sym typeface="Arial"/>
                        </a:rPr>
                        <a:t>Widespread (classical); emerging (PQC)</a:t>
                      </a:r>
                      <a:endParaRPr/>
                    </a:p>
                  </a:txBody>
                  <a:tcPr marT="38175" marB="38175" marR="76350" marL="76350" anchor="ctr">
                    <a:lnL cap="flat" cmpd="sng" w="9525">
                      <a:solidFill>
                        <a:srgbClr val="333639"/>
                      </a:solidFill>
                      <a:prstDash val="solid"/>
                      <a:round/>
                      <a:headEnd len="sm" w="sm" type="none"/>
                      <a:tailEnd len="sm" w="sm" type="none"/>
                    </a:lnL>
                    <a:lnR cap="flat" cmpd="sng" w="9525">
                      <a:solidFill>
                        <a:srgbClr val="333639"/>
                      </a:solidFill>
                      <a:prstDash val="solid"/>
                      <a:round/>
                      <a:headEnd len="sm" w="sm" type="none"/>
                      <a:tailEnd len="sm" w="sm" type="none"/>
                    </a:lnR>
                    <a:lnT cap="flat" cmpd="sng" w="9525">
                      <a:solidFill>
                        <a:srgbClr val="333639"/>
                      </a:solidFill>
                      <a:prstDash val="solid"/>
                      <a:round/>
                      <a:headEnd len="sm" w="sm" type="none"/>
                      <a:tailEnd len="sm" w="sm" type="none"/>
                    </a:lnT>
                    <a:lnB cap="flat" cmpd="sng" w="9525">
                      <a:solidFill>
                        <a:srgbClr val="333639"/>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The NIST Standardization Process</a:t>
            </a:r>
            <a:endParaRPr sz="2800">
              <a:latin typeface="Arial"/>
              <a:ea typeface="Arial"/>
              <a:cs typeface="Arial"/>
              <a:sym typeface="Arial"/>
            </a:endParaRPr>
          </a:p>
        </p:txBody>
      </p:sp>
      <p:sp>
        <p:nvSpPr>
          <p:cNvPr id="124" name="Google Shape;124;p6"/>
          <p:cNvSpPr txBox="1"/>
          <p:nvPr>
            <p:ph idx="1" type="body"/>
          </p:nvPr>
        </p:nvSpPr>
        <p:spPr>
          <a:xfrm>
            <a:off x="838200" y="1690686"/>
            <a:ext cx="10515600" cy="289516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it-IT" sz="1800" u="none" strike="noStrike">
                <a:latin typeface="Arial"/>
                <a:ea typeface="Arial"/>
                <a:cs typeface="Arial"/>
                <a:sym typeface="Arial"/>
              </a:rPr>
              <a:t>Rounds of evaluation (2016-2025) from </a:t>
            </a:r>
            <a:r>
              <a:rPr b="1" i="1" lang="it-IT" sz="1600">
                <a:latin typeface="Arial"/>
                <a:ea typeface="Arial"/>
                <a:cs typeface="Arial"/>
                <a:sym typeface="Arial"/>
              </a:rPr>
              <a:t>US National Institute of Standards and Technology (NIST)</a:t>
            </a:r>
            <a:endParaRPr b="1" i="1" sz="1600" u="none" strike="noStrike">
              <a:latin typeface="Arial"/>
              <a:ea typeface="Arial"/>
              <a:cs typeface="Arial"/>
              <a:sym typeface="Arial"/>
            </a:endParaRPr>
          </a:p>
          <a:p>
            <a:pPr indent="-114300" lvl="0" marL="228600" rtl="0" algn="l">
              <a:lnSpc>
                <a:spcPct val="90000"/>
              </a:lnSpc>
              <a:spcBef>
                <a:spcPts val="1000"/>
              </a:spcBef>
              <a:spcAft>
                <a:spcPts val="0"/>
              </a:spcAft>
              <a:buClr>
                <a:schemeClr val="dk1"/>
              </a:buClr>
              <a:buSzPts val="1800"/>
              <a:buNone/>
            </a:pPr>
            <a:r>
              <a:t/>
            </a:r>
            <a:endParaRPr b="1" sz="1800" u="none" strike="noStrike">
              <a:latin typeface="Arial"/>
              <a:ea typeface="Arial"/>
              <a:cs typeface="Arial"/>
              <a:sym typeface="Arial"/>
            </a:endParaRPr>
          </a:p>
          <a:p>
            <a:pPr indent="0" lvl="0" marL="0" rtl="0" algn="l">
              <a:lnSpc>
                <a:spcPct val="90000"/>
              </a:lnSpc>
              <a:spcBef>
                <a:spcPts val="1000"/>
              </a:spcBef>
              <a:spcAft>
                <a:spcPts val="0"/>
              </a:spcAft>
              <a:buClr>
                <a:schemeClr val="dk1"/>
              </a:buClr>
              <a:buSzPts val="1800"/>
              <a:buNone/>
            </a:pPr>
            <a:r>
              <a:t/>
            </a:r>
            <a:endParaRPr b="1" sz="1800" u="none" strike="noStrike">
              <a:latin typeface="Arial"/>
              <a:ea typeface="Arial"/>
              <a:cs typeface="Arial"/>
              <a:sym typeface="Arial"/>
            </a:endParaRPr>
          </a:p>
          <a:p>
            <a:pPr indent="0" lvl="0" marL="0" rtl="0" algn="l">
              <a:lnSpc>
                <a:spcPct val="90000"/>
              </a:lnSpc>
              <a:spcBef>
                <a:spcPts val="1000"/>
              </a:spcBef>
              <a:spcAft>
                <a:spcPts val="0"/>
              </a:spcAft>
              <a:buClr>
                <a:schemeClr val="dk1"/>
              </a:buClr>
              <a:buSzPts val="1800"/>
              <a:buNone/>
            </a:pPr>
            <a:r>
              <a:t/>
            </a:r>
            <a:endParaRPr b="1" sz="1800">
              <a:latin typeface="Arial"/>
              <a:ea typeface="Arial"/>
              <a:cs typeface="Arial"/>
              <a:sym typeface="Arial"/>
            </a:endParaRPr>
          </a:p>
          <a:p>
            <a:pPr indent="0" lvl="0" marL="0" rtl="0" algn="l">
              <a:lnSpc>
                <a:spcPct val="90000"/>
              </a:lnSpc>
              <a:spcBef>
                <a:spcPts val="1000"/>
              </a:spcBef>
              <a:spcAft>
                <a:spcPts val="0"/>
              </a:spcAft>
              <a:buClr>
                <a:schemeClr val="dk1"/>
              </a:buClr>
              <a:buSzPts val="1800"/>
              <a:buNone/>
            </a:pPr>
            <a:r>
              <a:t/>
            </a:r>
            <a:endParaRPr b="1" sz="1800" u="none" strike="noStrike">
              <a:latin typeface="Arial"/>
              <a:ea typeface="Arial"/>
              <a:cs typeface="Arial"/>
              <a:sym typeface="Arial"/>
            </a:endParaRPr>
          </a:p>
          <a:p>
            <a:pPr indent="0" lvl="0" marL="0" rtl="0" algn="l">
              <a:lnSpc>
                <a:spcPct val="90000"/>
              </a:lnSpc>
              <a:spcBef>
                <a:spcPts val="1000"/>
              </a:spcBef>
              <a:spcAft>
                <a:spcPts val="0"/>
              </a:spcAft>
              <a:buClr>
                <a:schemeClr val="dk1"/>
              </a:buClr>
              <a:buSzPts val="1800"/>
              <a:buNone/>
            </a:pPr>
            <a:r>
              <a:t/>
            </a:r>
            <a:endParaRPr b="1" sz="1800">
              <a:latin typeface="Arial"/>
              <a:ea typeface="Arial"/>
              <a:cs typeface="Arial"/>
              <a:sym typeface="Arial"/>
            </a:endParaRPr>
          </a:p>
          <a:p>
            <a:pPr indent="0" lvl="0" marL="0" rtl="0" algn="l">
              <a:lnSpc>
                <a:spcPct val="90000"/>
              </a:lnSpc>
              <a:spcBef>
                <a:spcPts val="1000"/>
              </a:spcBef>
              <a:spcAft>
                <a:spcPts val="0"/>
              </a:spcAft>
              <a:buClr>
                <a:schemeClr val="dk1"/>
              </a:buClr>
              <a:buSzPts val="1800"/>
              <a:buNone/>
            </a:pPr>
            <a:r>
              <a:t/>
            </a:r>
            <a:endParaRPr b="1" sz="1800" u="none" strike="noStrike">
              <a:latin typeface="Arial"/>
              <a:ea typeface="Arial"/>
              <a:cs typeface="Arial"/>
              <a:sym typeface="Arial"/>
            </a:endParaRPr>
          </a:p>
          <a:p>
            <a:pPr indent="0" lvl="0" marL="0" rtl="0" algn="l">
              <a:lnSpc>
                <a:spcPct val="90000"/>
              </a:lnSpc>
              <a:spcBef>
                <a:spcPts val="1000"/>
              </a:spcBef>
              <a:spcAft>
                <a:spcPts val="0"/>
              </a:spcAft>
              <a:buClr>
                <a:schemeClr val="dk1"/>
              </a:buClr>
              <a:buSzPts val="1800"/>
              <a:buNone/>
            </a:pPr>
            <a:r>
              <a:t/>
            </a:r>
            <a:endParaRPr b="1" sz="1800" u="none" strike="noStrike">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a:p>
        </p:txBody>
      </p:sp>
      <p:pic>
        <p:nvPicPr>
          <p:cNvPr id="125" name="Google Shape;125;p6"/>
          <p:cNvPicPr preferRelativeResize="0"/>
          <p:nvPr/>
        </p:nvPicPr>
        <p:blipFill rotWithShape="1">
          <a:blip r:embed="rId3">
            <a:alphaModFix/>
          </a:blip>
          <a:srcRect b="0" l="0" r="0" t="0"/>
          <a:stretch/>
        </p:blipFill>
        <p:spPr>
          <a:xfrm>
            <a:off x="10729825" y="4585855"/>
            <a:ext cx="1247949" cy="428685"/>
          </a:xfrm>
          <a:prstGeom prst="rect">
            <a:avLst/>
          </a:prstGeom>
          <a:noFill/>
          <a:ln>
            <a:noFill/>
          </a:ln>
        </p:spPr>
      </p:pic>
      <p:pic>
        <p:nvPicPr>
          <p:cNvPr id="126" name="Google Shape;126;p6"/>
          <p:cNvPicPr preferRelativeResize="0"/>
          <p:nvPr/>
        </p:nvPicPr>
        <p:blipFill rotWithShape="1">
          <a:blip r:embed="rId4">
            <a:alphaModFix/>
          </a:blip>
          <a:srcRect b="0" l="0" r="0" t="0"/>
          <a:stretch/>
        </p:blipFill>
        <p:spPr>
          <a:xfrm>
            <a:off x="962891" y="2028289"/>
            <a:ext cx="11069782" cy="2380772"/>
          </a:xfrm>
          <a:prstGeom prst="rect">
            <a:avLst/>
          </a:prstGeom>
          <a:noFill/>
          <a:ln>
            <a:noFill/>
          </a:ln>
        </p:spPr>
      </p:pic>
      <p:sp>
        <p:nvSpPr>
          <p:cNvPr id="127" name="Google Shape;127;p6"/>
          <p:cNvSpPr txBox="1"/>
          <p:nvPr/>
        </p:nvSpPr>
        <p:spPr>
          <a:xfrm>
            <a:off x="2825807" y="4585855"/>
            <a:ext cx="7904018" cy="206210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00"/>
              <a:buFont typeface="Arial"/>
              <a:buNone/>
            </a:pPr>
            <a:r>
              <a:rPr b="1" lang="it-IT" sz="1600">
                <a:solidFill>
                  <a:schemeClr val="dk1"/>
                </a:solidFill>
                <a:latin typeface="Arial"/>
                <a:ea typeface="Arial"/>
                <a:cs typeface="Arial"/>
                <a:sym typeface="Arial"/>
              </a:rPr>
              <a:t>🔹 Finalized Algorithms (July 5, 2022)</a:t>
            </a:r>
            <a:endParaRPr/>
          </a:p>
          <a:p>
            <a:pPr indent="0" lvl="0" marL="0" marR="0" rtl="0" algn="l">
              <a:spcBef>
                <a:spcPts val="0"/>
              </a:spcBef>
              <a:spcAft>
                <a:spcPts val="0"/>
              </a:spcAft>
              <a:buClr>
                <a:schemeClr val="dk1"/>
              </a:buClr>
              <a:buSzPts val="1600"/>
              <a:buFont typeface="Arial"/>
              <a:buNone/>
            </a:pPr>
            <a:r>
              <a:rPr lang="it-IT" sz="1600">
                <a:solidFill>
                  <a:schemeClr val="dk1"/>
                </a:solidFill>
                <a:latin typeface="Arial"/>
                <a:ea typeface="Arial"/>
                <a:cs typeface="Arial"/>
                <a:sym typeface="Arial"/>
              </a:rPr>
              <a:t>NIST selected the following </a:t>
            </a:r>
            <a:r>
              <a:rPr b="1" lang="it-IT" sz="1600">
                <a:solidFill>
                  <a:schemeClr val="dk1"/>
                </a:solidFill>
                <a:latin typeface="Arial"/>
                <a:ea typeface="Arial"/>
                <a:cs typeface="Arial"/>
                <a:sym typeface="Arial"/>
              </a:rPr>
              <a:t>4 algorithms</a:t>
            </a:r>
            <a:r>
              <a:rPr lang="it-IT" sz="1600">
                <a:solidFill>
                  <a:schemeClr val="dk1"/>
                </a:solidFill>
                <a:latin typeface="Arial"/>
                <a:ea typeface="Arial"/>
                <a:cs typeface="Arial"/>
                <a:sym typeface="Arial"/>
              </a:rPr>
              <a:t> for standardization:</a:t>
            </a:r>
            <a:endParaRPr/>
          </a:p>
          <a:p>
            <a:pPr indent="0" lvl="0" marL="0" marR="0" rtl="0" algn="l">
              <a:spcBef>
                <a:spcPts val="0"/>
              </a:spcBef>
              <a:spcAft>
                <a:spcPts val="0"/>
              </a:spcAft>
              <a:buClr>
                <a:schemeClr val="dk1"/>
              </a:buClr>
              <a:buSzPts val="1600"/>
              <a:buFont typeface="Arial"/>
              <a:buNone/>
            </a:pPr>
            <a:r>
              <a:rPr b="1" lang="it-IT" sz="1600">
                <a:solidFill>
                  <a:schemeClr val="dk1"/>
                </a:solidFill>
                <a:latin typeface="Arial"/>
                <a:ea typeface="Arial"/>
                <a:cs typeface="Arial"/>
                <a:sym typeface="Arial"/>
              </a:rPr>
              <a:t>1️⃣ Public-Key Encryption / Key Exchange Mechanisms (KEMs)</a:t>
            </a:r>
            <a:endParaRPr/>
          </a:p>
          <a:p>
            <a:pPr indent="0" lvl="0" marL="0" marR="0" rtl="0" algn="l">
              <a:spcBef>
                <a:spcPts val="0"/>
              </a:spcBef>
              <a:spcAft>
                <a:spcPts val="0"/>
              </a:spcAft>
              <a:buClr>
                <a:schemeClr val="dk1"/>
              </a:buClr>
              <a:buSzPts val="1600"/>
              <a:buFont typeface="Arial"/>
              <a:buNone/>
            </a:pPr>
            <a:r>
              <a:rPr b="1" lang="it-IT" sz="1600">
                <a:solidFill>
                  <a:schemeClr val="dk1"/>
                </a:solidFill>
                <a:latin typeface="Arial"/>
                <a:ea typeface="Arial"/>
                <a:cs typeface="Arial"/>
                <a:sym typeface="Arial"/>
              </a:rPr>
              <a:t>✅ Kyber</a:t>
            </a:r>
            <a:r>
              <a:rPr lang="it-IT" sz="1600">
                <a:solidFill>
                  <a:schemeClr val="dk1"/>
                </a:solidFill>
                <a:latin typeface="Arial"/>
                <a:ea typeface="Arial"/>
                <a:cs typeface="Arial"/>
                <a:sym typeface="Arial"/>
              </a:rPr>
              <a:t> </a:t>
            </a:r>
            <a:r>
              <a:rPr i="1" lang="it-IT" sz="1600">
                <a:solidFill>
                  <a:schemeClr val="dk1"/>
                </a:solidFill>
                <a:latin typeface="Arial"/>
                <a:ea typeface="Arial"/>
                <a:cs typeface="Arial"/>
                <a:sym typeface="Arial"/>
              </a:rPr>
              <a:t>(Lattice-based)</a:t>
            </a:r>
            <a:r>
              <a:rPr lang="it-IT" sz="1600">
                <a:solidFill>
                  <a:schemeClr val="dk1"/>
                </a:solidFill>
                <a:latin typeface="Arial"/>
                <a:ea typeface="Arial"/>
                <a:cs typeface="Arial"/>
                <a:sym typeface="Arial"/>
              </a:rPr>
              <a:t> – Chosen for general encryption and key establishment.</a:t>
            </a:r>
            <a:endParaRPr/>
          </a:p>
          <a:p>
            <a:pPr indent="0" lvl="0" marL="0" marR="0" rtl="0" algn="l">
              <a:spcBef>
                <a:spcPts val="0"/>
              </a:spcBef>
              <a:spcAft>
                <a:spcPts val="0"/>
              </a:spcAft>
              <a:buClr>
                <a:schemeClr val="dk1"/>
              </a:buClr>
              <a:buSzPts val="1600"/>
              <a:buFont typeface="Arial"/>
              <a:buNone/>
            </a:pPr>
            <a:r>
              <a:rPr b="1" lang="it-IT" sz="1600">
                <a:solidFill>
                  <a:schemeClr val="dk1"/>
                </a:solidFill>
                <a:latin typeface="Arial"/>
                <a:ea typeface="Arial"/>
                <a:cs typeface="Arial"/>
                <a:sym typeface="Arial"/>
              </a:rPr>
              <a:t>2️⃣ Digital Signatures</a:t>
            </a:r>
            <a:endParaRPr/>
          </a:p>
          <a:p>
            <a:pPr indent="0" lvl="0" marL="0" marR="0" rtl="0" algn="l">
              <a:spcBef>
                <a:spcPts val="0"/>
              </a:spcBef>
              <a:spcAft>
                <a:spcPts val="0"/>
              </a:spcAft>
              <a:buClr>
                <a:schemeClr val="dk1"/>
              </a:buClr>
              <a:buSzPts val="1600"/>
              <a:buFont typeface="Arial"/>
              <a:buNone/>
            </a:pPr>
            <a:r>
              <a:rPr b="1" lang="it-IT" sz="1600">
                <a:solidFill>
                  <a:schemeClr val="dk1"/>
                </a:solidFill>
                <a:latin typeface="Arial"/>
                <a:ea typeface="Arial"/>
                <a:cs typeface="Arial"/>
                <a:sym typeface="Arial"/>
              </a:rPr>
              <a:t>✅ Dilithium</a:t>
            </a:r>
            <a:r>
              <a:rPr lang="it-IT" sz="1600">
                <a:solidFill>
                  <a:schemeClr val="dk1"/>
                </a:solidFill>
                <a:latin typeface="Arial"/>
                <a:ea typeface="Arial"/>
                <a:cs typeface="Arial"/>
                <a:sym typeface="Arial"/>
              </a:rPr>
              <a:t> </a:t>
            </a:r>
            <a:r>
              <a:rPr i="1" lang="it-IT" sz="1600">
                <a:solidFill>
                  <a:schemeClr val="dk1"/>
                </a:solidFill>
                <a:latin typeface="Arial"/>
                <a:ea typeface="Arial"/>
                <a:cs typeface="Arial"/>
                <a:sym typeface="Arial"/>
              </a:rPr>
              <a:t>(Lattice-based)</a:t>
            </a:r>
            <a:r>
              <a:rPr lang="it-IT" sz="1600">
                <a:solidFill>
                  <a:schemeClr val="dk1"/>
                </a:solidFill>
                <a:latin typeface="Arial"/>
                <a:ea typeface="Arial"/>
                <a:cs typeface="Arial"/>
                <a:sym typeface="Arial"/>
              </a:rPr>
              <a:t> – Chosen for high security &amp; efficiency.</a:t>
            </a:r>
            <a:endParaRPr/>
          </a:p>
          <a:p>
            <a:pPr indent="0" lvl="0" marL="0" marR="0" rtl="0" algn="l">
              <a:spcBef>
                <a:spcPts val="0"/>
              </a:spcBef>
              <a:spcAft>
                <a:spcPts val="0"/>
              </a:spcAft>
              <a:buClr>
                <a:schemeClr val="dk1"/>
              </a:buClr>
              <a:buSzPts val="1600"/>
              <a:buFont typeface="Arial"/>
              <a:buNone/>
            </a:pPr>
            <a:r>
              <a:rPr b="1" lang="it-IT" sz="1600">
                <a:solidFill>
                  <a:schemeClr val="dk1"/>
                </a:solidFill>
                <a:latin typeface="Arial"/>
                <a:ea typeface="Arial"/>
                <a:cs typeface="Arial"/>
                <a:sym typeface="Arial"/>
              </a:rPr>
              <a:t>✅ Falcon</a:t>
            </a:r>
            <a:r>
              <a:rPr lang="it-IT" sz="1600">
                <a:solidFill>
                  <a:schemeClr val="dk1"/>
                </a:solidFill>
                <a:latin typeface="Arial"/>
                <a:ea typeface="Arial"/>
                <a:cs typeface="Arial"/>
                <a:sym typeface="Arial"/>
              </a:rPr>
              <a:t> </a:t>
            </a:r>
            <a:r>
              <a:rPr i="1" lang="it-IT" sz="1600">
                <a:solidFill>
                  <a:schemeClr val="dk1"/>
                </a:solidFill>
                <a:latin typeface="Arial"/>
                <a:ea typeface="Arial"/>
                <a:cs typeface="Arial"/>
                <a:sym typeface="Arial"/>
              </a:rPr>
              <a:t>(Lattice-based)</a:t>
            </a:r>
            <a:r>
              <a:rPr lang="it-IT" sz="1600">
                <a:solidFill>
                  <a:schemeClr val="dk1"/>
                </a:solidFill>
                <a:latin typeface="Arial"/>
                <a:ea typeface="Arial"/>
                <a:cs typeface="Arial"/>
                <a:sym typeface="Arial"/>
              </a:rPr>
              <a:t> – Alternative for more compact signatures.</a:t>
            </a:r>
            <a:endParaRPr/>
          </a:p>
          <a:p>
            <a:pPr indent="0" lvl="0" marL="0" marR="0" rtl="0" algn="l">
              <a:spcBef>
                <a:spcPts val="0"/>
              </a:spcBef>
              <a:spcAft>
                <a:spcPts val="0"/>
              </a:spcAft>
              <a:buClr>
                <a:schemeClr val="dk1"/>
              </a:buClr>
              <a:buSzPts val="1600"/>
              <a:buFont typeface="Arial"/>
              <a:buNone/>
            </a:pPr>
            <a:r>
              <a:rPr b="1" lang="it-IT" sz="1600">
                <a:solidFill>
                  <a:schemeClr val="dk1"/>
                </a:solidFill>
                <a:latin typeface="Arial"/>
                <a:ea typeface="Arial"/>
                <a:cs typeface="Arial"/>
                <a:sym typeface="Arial"/>
              </a:rPr>
              <a:t>✅ SPHINCS+</a:t>
            </a:r>
            <a:r>
              <a:rPr lang="it-IT" sz="1600">
                <a:solidFill>
                  <a:schemeClr val="dk1"/>
                </a:solidFill>
                <a:latin typeface="Arial"/>
                <a:ea typeface="Arial"/>
                <a:cs typeface="Arial"/>
                <a:sym typeface="Arial"/>
              </a:rPr>
              <a:t> </a:t>
            </a:r>
            <a:r>
              <a:rPr i="1" lang="it-IT" sz="1600">
                <a:solidFill>
                  <a:schemeClr val="dk1"/>
                </a:solidFill>
                <a:latin typeface="Arial"/>
                <a:ea typeface="Arial"/>
                <a:cs typeface="Arial"/>
                <a:sym typeface="Arial"/>
              </a:rPr>
              <a:t>(Hash-based)</a:t>
            </a:r>
            <a:r>
              <a:rPr lang="it-IT" sz="1600">
                <a:solidFill>
                  <a:schemeClr val="dk1"/>
                </a:solidFill>
                <a:latin typeface="Arial"/>
                <a:ea typeface="Arial"/>
                <a:cs typeface="Arial"/>
                <a:sym typeface="Arial"/>
              </a:rPr>
              <a:t> – Alternative for conservative security need</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Key Categories of PQC Algorithms</a:t>
            </a:r>
            <a:endParaRPr sz="2800">
              <a:latin typeface="Arial"/>
              <a:ea typeface="Arial"/>
              <a:cs typeface="Arial"/>
              <a:sym typeface="Arial"/>
            </a:endParaRPr>
          </a:p>
        </p:txBody>
      </p:sp>
      <p:sp>
        <p:nvSpPr>
          <p:cNvPr id="133" name="Google Shape;133;p7"/>
          <p:cNvSpPr txBox="1"/>
          <p:nvPr>
            <p:ph idx="1" type="body"/>
          </p:nvPr>
        </p:nvSpPr>
        <p:spPr>
          <a:xfrm>
            <a:off x="838200" y="1466877"/>
            <a:ext cx="7571509" cy="525257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b="1" lang="it-IT" sz="1800" u="none" strike="noStrike">
                <a:latin typeface="Arial"/>
                <a:ea typeface="Arial"/>
                <a:cs typeface="Arial"/>
                <a:sym typeface="Arial"/>
              </a:rPr>
              <a:t>Key Encapsulation Mechanisms (KEMs):</a:t>
            </a:r>
            <a:endParaRPr/>
          </a:p>
          <a:p>
            <a:pPr indent="0" lvl="0" marL="0" rtl="0" algn="l">
              <a:lnSpc>
                <a:spcPct val="90000"/>
              </a:lnSpc>
              <a:spcBef>
                <a:spcPts val="1000"/>
              </a:spcBef>
              <a:spcAft>
                <a:spcPts val="0"/>
              </a:spcAft>
              <a:buClr>
                <a:schemeClr val="dk1"/>
              </a:buClr>
              <a:buSzPts val="1600"/>
              <a:buNone/>
            </a:pPr>
            <a:r>
              <a:rPr lang="it-IT" sz="1600">
                <a:latin typeface="Arial"/>
                <a:ea typeface="Arial"/>
                <a:cs typeface="Arial"/>
                <a:sym typeface="Arial"/>
              </a:rPr>
              <a:t>Based on the Learning With Errors (LWE) problem, which is consideredquantum-resistant because Shor’s algorithm cannot efficiently solve it.</a:t>
            </a:r>
            <a:endParaRPr/>
          </a:p>
          <a:p>
            <a:pPr indent="0" lvl="0" marL="0" rtl="0" algn="l">
              <a:lnSpc>
                <a:spcPct val="90000"/>
              </a:lnSpc>
              <a:spcBef>
                <a:spcPts val="1000"/>
              </a:spcBef>
              <a:spcAft>
                <a:spcPts val="0"/>
              </a:spcAft>
              <a:buClr>
                <a:schemeClr val="dk1"/>
              </a:buClr>
              <a:buSzPts val="1400"/>
              <a:buNone/>
            </a:pPr>
            <a:r>
              <a:t/>
            </a:r>
            <a:endParaRPr b="1" sz="1400" u="none" strike="noStrike">
              <a:latin typeface="Arial"/>
              <a:ea typeface="Arial"/>
              <a:cs typeface="Arial"/>
              <a:sym typeface="Arial"/>
            </a:endParaRPr>
          </a:p>
          <a:p>
            <a:pPr indent="-228600" lvl="0" marL="228600" rtl="0" algn="l">
              <a:lnSpc>
                <a:spcPct val="90000"/>
              </a:lnSpc>
              <a:spcBef>
                <a:spcPts val="1000"/>
              </a:spcBef>
              <a:spcAft>
                <a:spcPts val="0"/>
              </a:spcAft>
              <a:buClr>
                <a:schemeClr val="dk1"/>
              </a:buClr>
              <a:buSzPts val="1400"/>
              <a:buFont typeface="Calibri"/>
              <a:buAutoNum type="arabicPeriod"/>
            </a:pPr>
            <a:r>
              <a:rPr b="1" lang="it-IT" sz="1400">
                <a:latin typeface="Arial"/>
                <a:ea typeface="Arial"/>
                <a:cs typeface="Arial"/>
                <a:sym typeface="Arial"/>
              </a:rPr>
              <a:t>Key Generation</a:t>
            </a:r>
            <a:r>
              <a:rPr lang="it-IT" sz="1400">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ts val="1400"/>
              <a:buFont typeface="Calibri"/>
              <a:buAutoNum type="arabicPeriod"/>
            </a:pPr>
            <a:r>
              <a:rPr lang="it-IT" sz="1400">
                <a:latin typeface="Arial"/>
                <a:ea typeface="Arial"/>
                <a:cs typeface="Arial"/>
                <a:sym typeface="Arial"/>
              </a:rPr>
              <a:t>A </a:t>
            </a:r>
            <a:r>
              <a:rPr b="1" lang="it-IT" sz="1400">
                <a:latin typeface="Arial"/>
                <a:ea typeface="Arial"/>
                <a:cs typeface="Arial"/>
                <a:sym typeface="Arial"/>
              </a:rPr>
              <a:t>public-private key pair</a:t>
            </a:r>
            <a:r>
              <a:rPr lang="it-IT" sz="1400">
                <a:latin typeface="Arial"/>
                <a:ea typeface="Arial"/>
                <a:cs typeface="Arial"/>
                <a:sym typeface="Arial"/>
              </a:rPr>
              <a:t> is generated using structured lattices.</a:t>
            </a:r>
            <a:endParaRPr/>
          </a:p>
          <a:p>
            <a:pPr indent="-285750" lvl="1" marL="742950" rtl="0" algn="l">
              <a:lnSpc>
                <a:spcPct val="90000"/>
              </a:lnSpc>
              <a:spcBef>
                <a:spcPts val="500"/>
              </a:spcBef>
              <a:spcAft>
                <a:spcPts val="0"/>
              </a:spcAft>
              <a:buClr>
                <a:schemeClr val="dk1"/>
              </a:buClr>
              <a:buSzPts val="1400"/>
              <a:buFont typeface="Calibri"/>
              <a:buAutoNum type="arabicPeriod"/>
            </a:pPr>
            <a:r>
              <a:rPr lang="it-IT" sz="1400">
                <a:latin typeface="Arial"/>
                <a:ea typeface="Arial"/>
                <a:cs typeface="Arial"/>
                <a:sym typeface="Arial"/>
              </a:rPr>
              <a:t>The public key is shared, while the private key is kept secret.</a:t>
            </a:r>
            <a:endParaRPr/>
          </a:p>
          <a:p>
            <a:pPr indent="-228600" lvl="0" marL="228600" rtl="0" algn="l">
              <a:lnSpc>
                <a:spcPct val="90000"/>
              </a:lnSpc>
              <a:spcBef>
                <a:spcPts val="1000"/>
              </a:spcBef>
              <a:spcAft>
                <a:spcPts val="0"/>
              </a:spcAft>
              <a:buClr>
                <a:schemeClr val="dk1"/>
              </a:buClr>
              <a:buSzPts val="1400"/>
              <a:buFont typeface="Calibri"/>
              <a:buAutoNum type="arabicPeriod"/>
            </a:pPr>
            <a:r>
              <a:rPr b="1" lang="it-IT" sz="1400">
                <a:latin typeface="Arial"/>
                <a:ea typeface="Arial"/>
                <a:cs typeface="Arial"/>
                <a:sym typeface="Arial"/>
              </a:rPr>
              <a:t>Encapsulation (Encryption)</a:t>
            </a:r>
            <a:r>
              <a:rPr lang="it-IT" sz="1400">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ts val="1400"/>
              <a:buFont typeface="Calibri"/>
              <a:buAutoNum type="arabicPeriod"/>
            </a:pPr>
            <a:r>
              <a:rPr lang="it-IT" sz="1400">
                <a:latin typeface="Arial"/>
                <a:ea typeface="Arial"/>
                <a:cs typeface="Arial"/>
                <a:sym typeface="Arial"/>
              </a:rPr>
              <a:t>The sender generates a </a:t>
            </a:r>
            <a:r>
              <a:rPr b="1" lang="it-IT" sz="1400">
                <a:latin typeface="Arial"/>
                <a:ea typeface="Arial"/>
                <a:cs typeface="Arial"/>
                <a:sym typeface="Arial"/>
              </a:rPr>
              <a:t>random secret value</a:t>
            </a:r>
            <a:r>
              <a:rPr lang="it-IT" sz="1400">
                <a:latin typeface="Arial"/>
                <a:ea typeface="Arial"/>
                <a:cs typeface="Arial"/>
                <a:sym typeface="Arial"/>
              </a:rPr>
              <a:t> (session key).</a:t>
            </a:r>
            <a:endParaRPr/>
          </a:p>
          <a:p>
            <a:pPr indent="-285750" lvl="1" marL="742950" rtl="0" algn="l">
              <a:lnSpc>
                <a:spcPct val="90000"/>
              </a:lnSpc>
              <a:spcBef>
                <a:spcPts val="500"/>
              </a:spcBef>
              <a:spcAft>
                <a:spcPts val="0"/>
              </a:spcAft>
              <a:buClr>
                <a:schemeClr val="dk1"/>
              </a:buClr>
              <a:buSzPts val="1400"/>
              <a:buFont typeface="Calibri"/>
              <a:buAutoNum type="arabicPeriod"/>
            </a:pPr>
            <a:r>
              <a:rPr lang="it-IT" sz="1400">
                <a:latin typeface="Arial"/>
                <a:ea typeface="Arial"/>
                <a:cs typeface="Arial"/>
                <a:sym typeface="Arial"/>
              </a:rPr>
              <a:t>This session key is encrypted using the recipient’s </a:t>
            </a:r>
            <a:r>
              <a:rPr b="1" lang="it-IT" sz="1400">
                <a:latin typeface="Arial"/>
                <a:ea typeface="Arial"/>
                <a:cs typeface="Arial"/>
                <a:sym typeface="Arial"/>
              </a:rPr>
              <a:t>public key</a:t>
            </a:r>
            <a:r>
              <a:rPr lang="it-IT" sz="1400">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ts val="1400"/>
              <a:buFont typeface="Calibri"/>
              <a:buAutoNum type="arabicPeriod"/>
            </a:pPr>
            <a:r>
              <a:rPr lang="it-IT" sz="1400">
                <a:latin typeface="Arial"/>
                <a:ea typeface="Arial"/>
                <a:cs typeface="Arial"/>
                <a:sym typeface="Arial"/>
              </a:rPr>
              <a:t>The encrypted key is sent to the recipient.</a:t>
            </a:r>
            <a:endParaRPr/>
          </a:p>
          <a:p>
            <a:pPr indent="-228600" lvl="0" marL="228600" rtl="0" algn="l">
              <a:lnSpc>
                <a:spcPct val="90000"/>
              </a:lnSpc>
              <a:spcBef>
                <a:spcPts val="1000"/>
              </a:spcBef>
              <a:spcAft>
                <a:spcPts val="0"/>
              </a:spcAft>
              <a:buClr>
                <a:schemeClr val="dk1"/>
              </a:buClr>
              <a:buSzPts val="1400"/>
              <a:buFont typeface="Calibri"/>
              <a:buAutoNum type="arabicPeriod"/>
            </a:pPr>
            <a:r>
              <a:rPr b="1" lang="it-IT" sz="1400">
                <a:latin typeface="Arial"/>
                <a:ea typeface="Arial"/>
                <a:cs typeface="Arial"/>
                <a:sym typeface="Arial"/>
              </a:rPr>
              <a:t>Decapsulation (Decryption)</a:t>
            </a:r>
            <a:r>
              <a:rPr lang="it-IT" sz="1400">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ts val="1400"/>
              <a:buFont typeface="Calibri"/>
              <a:buAutoNum type="arabicPeriod"/>
            </a:pPr>
            <a:r>
              <a:rPr lang="it-IT" sz="1400">
                <a:latin typeface="Arial"/>
                <a:ea typeface="Arial"/>
                <a:cs typeface="Arial"/>
                <a:sym typeface="Arial"/>
              </a:rPr>
              <a:t>The recipient </a:t>
            </a:r>
            <a:r>
              <a:rPr b="1" lang="it-IT" sz="1400">
                <a:latin typeface="Arial"/>
                <a:ea typeface="Arial"/>
                <a:cs typeface="Arial"/>
                <a:sym typeface="Arial"/>
              </a:rPr>
              <a:t>decrypts</a:t>
            </a:r>
            <a:r>
              <a:rPr lang="it-IT" sz="1400">
                <a:latin typeface="Arial"/>
                <a:ea typeface="Arial"/>
                <a:cs typeface="Arial"/>
                <a:sym typeface="Arial"/>
              </a:rPr>
              <a:t> the key using their </a:t>
            </a:r>
            <a:r>
              <a:rPr b="1" lang="it-IT" sz="1400">
                <a:latin typeface="Arial"/>
                <a:ea typeface="Arial"/>
                <a:cs typeface="Arial"/>
                <a:sym typeface="Arial"/>
              </a:rPr>
              <a:t>private key</a:t>
            </a:r>
            <a:r>
              <a:rPr lang="it-IT" sz="1400">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ts val="1400"/>
              <a:buFont typeface="Calibri"/>
              <a:buAutoNum type="arabicPeriod"/>
            </a:pPr>
            <a:r>
              <a:rPr lang="it-IT" sz="1400">
                <a:latin typeface="Arial"/>
                <a:ea typeface="Arial"/>
                <a:cs typeface="Arial"/>
                <a:sym typeface="Arial"/>
              </a:rPr>
              <a:t>Both parties now share the same </a:t>
            </a:r>
            <a:r>
              <a:rPr b="1" lang="it-IT" sz="1400">
                <a:latin typeface="Arial"/>
                <a:ea typeface="Arial"/>
                <a:cs typeface="Arial"/>
                <a:sym typeface="Arial"/>
              </a:rPr>
              <a:t>session key</a:t>
            </a:r>
            <a:r>
              <a:rPr lang="it-IT" sz="1400">
                <a:latin typeface="Arial"/>
                <a:ea typeface="Arial"/>
                <a:cs typeface="Arial"/>
                <a:sym typeface="Arial"/>
              </a:rPr>
              <a:t>, enabling secure encrypted communication.</a:t>
            </a:r>
            <a:endParaRPr/>
          </a:p>
          <a:p>
            <a:pPr indent="0" lvl="0" marL="0" rtl="0" algn="l">
              <a:lnSpc>
                <a:spcPct val="90000"/>
              </a:lnSpc>
              <a:spcBef>
                <a:spcPts val="1000"/>
              </a:spcBef>
              <a:spcAft>
                <a:spcPts val="0"/>
              </a:spcAft>
              <a:buClr>
                <a:schemeClr val="dk1"/>
              </a:buClr>
              <a:buSzPts val="1600"/>
              <a:buNone/>
            </a:pPr>
            <a:r>
              <a:rPr lang="it-IT" sz="1600">
                <a:latin typeface="Arial"/>
                <a:ea typeface="Arial"/>
                <a:cs typeface="Arial"/>
                <a:sym typeface="Arial"/>
              </a:rPr>
              <a:t>✅ </a:t>
            </a:r>
            <a:r>
              <a:rPr b="1" lang="it-IT" sz="1600">
                <a:latin typeface="Arial"/>
                <a:ea typeface="Arial"/>
                <a:cs typeface="Arial"/>
                <a:sym typeface="Arial"/>
              </a:rPr>
              <a:t>Quantum-Safe</a:t>
            </a:r>
            <a:r>
              <a:rPr lang="it-IT" sz="1600">
                <a:latin typeface="Arial"/>
                <a:ea typeface="Arial"/>
                <a:cs typeface="Arial"/>
                <a:sym typeface="Arial"/>
              </a:rPr>
              <a:t>: Resistant to attacks by quantum computers.</a:t>
            </a:r>
            <a:br>
              <a:rPr lang="it-IT" sz="1600">
                <a:latin typeface="Arial"/>
                <a:ea typeface="Arial"/>
                <a:cs typeface="Arial"/>
                <a:sym typeface="Arial"/>
              </a:rPr>
            </a:br>
            <a:r>
              <a:rPr lang="it-IT" sz="1600">
                <a:latin typeface="Arial"/>
                <a:ea typeface="Arial"/>
                <a:cs typeface="Arial"/>
                <a:sym typeface="Arial"/>
              </a:rPr>
              <a:t>✅ </a:t>
            </a:r>
            <a:r>
              <a:rPr b="1" lang="it-IT" sz="1600">
                <a:latin typeface="Arial"/>
                <a:ea typeface="Arial"/>
                <a:cs typeface="Arial"/>
                <a:sym typeface="Arial"/>
              </a:rPr>
              <a:t>Efficient</a:t>
            </a:r>
            <a:r>
              <a:rPr lang="it-IT" sz="1600">
                <a:latin typeface="Arial"/>
                <a:ea typeface="Arial"/>
                <a:cs typeface="Arial"/>
                <a:sym typeface="Arial"/>
              </a:rPr>
              <a:t>: Faster than RSA and ECC, even on resource-constrained devices.</a:t>
            </a:r>
            <a:br>
              <a:rPr lang="it-IT" sz="1600">
                <a:latin typeface="Arial"/>
                <a:ea typeface="Arial"/>
                <a:cs typeface="Arial"/>
                <a:sym typeface="Arial"/>
              </a:rPr>
            </a:br>
            <a:r>
              <a:rPr lang="it-IT" sz="1600">
                <a:latin typeface="Arial"/>
                <a:ea typeface="Arial"/>
                <a:cs typeface="Arial"/>
                <a:sym typeface="Arial"/>
              </a:rPr>
              <a:t>✅ </a:t>
            </a:r>
            <a:r>
              <a:rPr b="1" lang="it-IT" sz="1600">
                <a:latin typeface="Arial"/>
                <a:ea typeface="Arial"/>
                <a:cs typeface="Arial"/>
                <a:sym typeface="Arial"/>
              </a:rPr>
              <a:t>Scalable</a:t>
            </a:r>
            <a:r>
              <a:rPr lang="it-IT" sz="1600">
                <a:latin typeface="Arial"/>
                <a:ea typeface="Arial"/>
                <a:cs typeface="Arial"/>
                <a:sym typeface="Arial"/>
              </a:rPr>
              <a:t>: Works well in modern network architectures.</a:t>
            </a:r>
            <a:br>
              <a:rPr lang="it-IT" sz="1600">
                <a:latin typeface="Arial"/>
                <a:ea typeface="Arial"/>
                <a:cs typeface="Arial"/>
                <a:sym typeface="Arial"/>
              </a:rPr>
            </a:br>
            <a:r>
              <a:rPr lang="it-IT" sz="1600">
                <a:latin typeface="Arial"/>
                <a:ea typeface="Arial"/>
                <a:cs typeface="Arial"/>
                <a:sym typeface="Arial"/>
              </a:rPr>
              <a:t>✅ </a:t>
            </a:r>
            <a:r>
              <a:rPr b="1" lang="it-IT" sz="1600">
                <a:latin typeface="Arial"/>
                <a:ea typeface="Arial"/>
                <a:cs typeface="Arial"/>
                <a:sym typeface="Arial"/>
              </a:rPr>
              <a:t>Compact Keys</a:t>
            </a:r>
            <a:r>
              <a:rPr lang="it-IT" sz="1600">
                <a:latin typeface="Arial"/>
                <a:ea typeface="Arial"/>
                <a:cs typeface="Arial"/>
                <a:sym typeface="Arial"/>
              </a:rPr>
              <a:t>: Smaller than other post-quantum alternatives.</a:t>
            </a:r>
            <a:endParaRPr b="1" sz="1600">
              <a:latin typeface="Arial"/>
              <a:ea typeface="Arial"/>
              <a:cs typeface="Arial"/>
              <a:sym typeface="Arial"/>
            </a:endParaRPr>
          </a:p>
          <a:p>
            <a:pPr indent="0" lvl="0" marL="0" rtl="0" algn="l">
              <a:lnSpc>
                <a:spcPct val="90000"/>
              </a:lnSpc>
              <a:spcBef>
                <a:spcPts val="1000"/>
              </a:spcBef>
              <a:spcAft>
                <a:spcPts val="0"/>
              </a:spcAft>
              <a:buClr>
                <a:schemeClr val="dk1"/>
              </a:buClr>
              <a:buSzPts val="1400"/>
              <a:buNone/>
            </a:pPr>
            <a:r>
              <a:t/>
            </a:r>
            <a:endParaRPr b="1" sz="1400" u="none" strike="noStrike">
              <a:latin typeface="Arial"/>
              <a:ea typeface="Arial"/>
              <a:cs typeface="Arial"/>
              <a:sym typeface="Arial"/>
            </a:endParaRPr>
          </a:p>
          <a:p>
            <a:pPr indent="0" lvl="0" marL="0" rtl="0" algn="l">
              <a:lnSpc>
                <a:spcPct val="90000"/>
              </a:lnSpc>
              <a:spcBef>
                <a:spcPts val="1000"/>
              </a:spcBef>
              <a:spcAft>
                <a:spcPts val="0"/>
              </a:spcAft>
              <a:buClr>
                <a:schemeClr val="dk1"/>
              </a:buClr>
              <a:buSzPts val="1400"/>
              <a:buNone/>
            </a:pPr>
            <a:r>
              <a:t/>
            </a:r>
            <a:endParaRPr b="1" sz="1400">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a:p>
        </p:txBody>
      </p:sp>
      <p:pic>
        <p:nvPicPr>
          <p:cNvPr id="134" name="Google Shape;134;p7"/>
          <p:cNvPicPr preferRelativeResize="0"/>
          <p:nvPr/>
        </p:nvPicPr>
        <p:blipFill rotWithShape="1">
          <a:blip r:embed="rId3">
            <a:alphaModFix/>
          </a:blip>
          <a:srcRect b="0" l="0" r="0" t="0"/>
          <a:stretch/>
        </p:blipFill>
        <p:spPr>
          <a:xfrm>
            <a:off x="8121198" y="1466877"/>
            <a:ext cx="3521113" cy="47091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Key Categories of PQC Algorithms</a:t>
            </a:r>
            <a:endParaRPr sz="2800">
              <a:latin typeface="Arial"/>
              <a:ea typeface="Arial"/>
              <a:cs typeface="Arial"/>
              <a:sym typeface="Arial"/>
            </a:endParaRPr>
          </a:p>
        </p:txBody>
      </p:sp>
      <p:sp>
        <p:nvSpPr>
          <p:cNvPr id="140" name="Google Shape;140;p8"/>
          <p:cNvSpPr txBox="1"/>
          <p:nvPr>
            <p:ph idx="1" type="body"/>
          </p:nvPr>
        </p:nvSpPr>
        <p:spPr>
          <a:xfrm>
            <a:off x="838200" y="1466877"/>
            <a:ext cx="8527473" cy="832978"/>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800"/>
              <a:buNone/>
            </a:pPr>
            <a:r>
              <a:rPr b="1" lang="it-IT" sz="1800" u="none" strike="noStrike">
                <a:latin typeface="Arial"/>
                <a:ea typeface="Arial"/>
                <a:cs typeface="Arial"/>
                <a:sym typeface="Arial"/>
              </a:rPr>
              <a:t>Digital Signature Algorithms:</a:t>
            </a:r>
            <a:endParaRPr sz="1800" u="none" strike="noStrike">
              <a:latin typeface="Arial"/>
              <a:ea typeface="Arial"/>
              <a:cs typeface="Arial"/>
              <a:sym typeface="Arial"/>
            </a:endParaRPr>
          </a:p>
          <a:p>
            <a:pPr indent="-285750" lvl="1" marL="742950" rtl="0" algn="l">
              <a:lnSpc>
                <a:spcPct val="115000"/>
              </a:lnSpc>
              <a:spcBef>
                <a:spcPts val="500"/>
              </a:spcBef>
              <a:spcAft>
                <a:spcPts val="0"/>
              </a:spcAft>
              <a:buClr>
                <a:schemeClr val="dk1"/>
              </a:buClr>
              <a:buSzPts val="1600"/>
              <a:buFont typeface="Arial"/>
              <a:buChar char="○"/>
            </a:pPr>
            <a:r>
              <a:rPr b="1" lang="it-IT" sz="1600" u="none" strike="noStrike">
                <a:latin typeface="Arial"/>
                <a:ea typeface="Arial"/>
                <a:cs typeface="Arial"/>
                <a:sym typeface="Arial"/>
              </a:rPr>
              <a:t>CRYSTALS-Dilithium, Falcon, SPHINCS+: Features and security properties</a:t>
            </a:r>
            <a:endParaRPr sz="1600" u="none" strike="noStrike">
              <a:latin typeface="Arial"/>
              <a:ea typeface="Arial"/>
              <a:cs typeface="Arial"/>
              <a:sym typeface="Arial"/>
            </a:endParaRPr>
          </a:p>
          <a:p>
            <a:pPr indent="0" lvl="0" marL="0" rtl="0" algn="l">
              <a:lnSpc>
                <a:spcPct val="90000"/>
              </a:lnSpc>
              <a:spcBef>
                <a:spcPts val="2200"/>
              </a:spcBef>
              <a:spcAft>
                <a:spcPts val="0"/>
              </a:spcAft>
              <a:buClr>
                <a:schemeClr val="dk1"/>
              </a:buClr>
              <a:buSzPts val="2800"/>
              <a:buNone/>
            </a:pPr>
            <a:r>
              <a:t/>
            </a:r>
            <a:endParaRPr/>
          </a:p>
        </p:txBody>
      </p:sp>
      <p:graphicFrame>
        <p:nvGraphicFramePr>
          <p:cNvPr id="141" name="Google Shape;141;p8"/>
          <p:cNvGraphicFramePr/>
          <p:nvPr/>
        </p:nvGraphicFramePr>
        <p:xfrm>
          <a:off x="538162" y="2299855"/>
          <a:ext cx="11115675" cy="2924175"/>
        </p:xfrm>
        <a:graphic>
          <a:graphicData uri="http://schemas.openxmlformats.org/presentationml/2006/ole">
            <mc:AlternateContent>
              <mc:Choice Requires="v">
                <p:oleObj r:id="rId4" imgH="2924175" imgW="11115675" progId="Excel.Sheet.12" spid="_x0000_s1">
                  <p:embed/>
                </p:oleObj>
              </mc:Choice>
              <mc:Fallback>
                <p:oleObj r:id="rId5" imgH="2924175" imgW="11115675" progId="Excel.Sheet.12">
                  <p:embed/>
                  <p:pic>
                    <p:nvPicPr>
                      <p:cNvPr id="141" name="Google Shape;141;p8"/>
                      <p:cNvPicPr preferRelativeResize="0"/>
                      <p:nvPr/>
                    </p:nvPicPr>
                    <p:blipFill rotWithShape="1">
                      <a:blip r:embed="rId6">
                        <a:alphaModFix/>
                      </a:blip>
                      <a:srcRect b="0" l="0" r="0" t="0"/>
                      <a:stretch/>
                    </p:blipFill>
                    <p:spPr>
                      <a:xfrm>
                        <a:off x="538162" y="2299855"/>
                        <a:ext cx="11115675" cy="2924175"/>
                      </a:xfrm>
                      <a:prstGeom prst="rect">
                        <a:avLst/>
                      </a:prstGeom>
                      <a:noFill/>
                      <a:ln>
                        <a:noFill/>
                      </a:ln>
                    </p:spPr>
                  </p:pic>
                </p:oleObj>
              </mc:Fallback>
            </mc:AlternateContent>
          </a:graphicData>
        </a:graphic>
      </p:graphicFrame>
      <p:sp>
        <p:nvSpPr>
          <p:cNvPr id="142" name="Google Shape;142;p8"/>
          <p:cNvSpPr txBox="1"/>
          <p:nvPr/>
        </p:nvSpPr>
        <p:spPr>
          <a:xfrm>
            <a:off x="538162" y="5224030"/>
            <a:ext cx="11016529" cy="144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1600">
                <a:solidFill>
                  <a:schemeClr val="dk1"/>
                </a:solidFill>
                <a:latin typeface="Arial"/>
                <a:ea typeface="Arial"/>
                <a:cs typeface="Arial"/>
                <a:sym typeface="Arial"/>
              </a:rPr>
              <a:t>Key Takeaways</a:t>
            </a:r>
            <a:r>
              <a:rPr lang="it-IT" sz="1600">
                <a:solidFill>
                  <a:schemeClr val="dk1"/>
                </a:solidFill>
                <a:latin typeface="Arial"/>
                <a:ea typeface="Arial"/>
                <a:cs typeface="Arial"/>
                <a:sym typeface="Arial"/>
              </a:rPr>
              <a:t>:</a:t>
            </a:r>
            <a:endParaRPr/>
          </a:p>
          <a:p>
            <a:pPr indent="-285750" lvl="0" marL="285750" marR="0" rtl="0" algn="l">
              <a:spcBef>
                <a:spcPts val="0"/>
              </a:spcBef>
              <a:spcAft>
                <a:spcPts val="0"/>
              </a:spcAft>
              <a:buClr>
                <a:schemeClr val="dk1"/>
              </a:buClr>
              <a:buSzPts val="1400"/>
              <a:buFont typeface="Noto Sans Symbols"/>
              <a:buChar char="❑"/>
            </a:pPr>
            <a:r>
              <a:rPr lang="it-IT" sz="1400">
                <a:solidFill>
                  <a:schemeClr val="dk1"/>
                </a:solidFill>
                <a:latin typeface="Arial"/>
                <a:ea typeface="Arial"/>
                <a:cs typeface="Arial"/>
                <a:sym typeface="Arial"/>
              </a:rPr>
              <a:t>Falcon has the smallest signature size and is the fastest in performance, making it ideal for IoT and blockchain applications.</a:t>
            </a:r>
            <a:endParaRPr/>
          </a:p>
          <a:p>
            <a:pPr indent="-285750" lvl="0" marL="285750" marR="0" rtl="0" algn="l">
              <a:spcBef>
                <a:spcPts val="0"/>
              </a:spcBef>
              <a:spcAft>
                <a:spcPts val="0"/>
              </a:spcAft>
              <a:buClr>
                <a:schemeClr val="dk1"/>
              </a:buClr>
              <a:buSzPts val="1400"/>
              <a:buFont typeface="Noto Sans Symbols"/>
              <a:buChar char="❑"/>
            </a:pPr>
            <a:r>
              <a:rPr lang="it-IT" sz="1400">
                <a:solidFill>
                  <a:schemeClr val="dk1"/>
                </a:solidFill>
                <a:latin typeface="Arial"/>
                <a:ea typeface="Arial"/>
                <a:cs typeface="Arial"/>
                <a:sym typeface="Arial"/>
              </a:rPr>
              <a:t>Dilithium is balanced between security and efficiency, making it the recommended choice for general use, including authentication and software signing.</a:t>
            </a:r>
            <a:endParaRPr/>
          </a:p>
          <a:p>
            <a:pPr indent="-285750" lvl="0" marL="285750" marR="0" rtl="0" algn="l">
              <a:spcBef>
                <a:spcPts val="0"/>
              </a:spcBef>
              <a:spcAft>
                <a:spcPts val="0"/>
              </a:spcAft>
              <a:buClr>
                <a:schemeClr val="dk1"/>
              </a:buClr>
              <a:buSzPts val="1400"/>
              <a:buFont typeface="Noto Sans Symbols"/>
              <a:buChar char="❑"/>
            </a:pPr>
            <a:r>
              <a:rPr lang="it-IT" sz="1400">
                <a:solidFill>
                  <a:schemeClr val="dk1"/>
                </a:solidFill>
                <a:latin typeface="Arial"/>
                <a:ea typeface="Arial"/>
                <a:cs typeface="Arial"/>
                <a:sym typeface="Arial"/>
              </a:rPr>
              <a:t>SPHINCS+ is not lattice-based and offers a very high security level (due to its hash-based design) but has a larger signature size and is slower</a:t>
            </a:r>
            <a:r>
              <a:rPr lang="it-IT" sz="1600">
                <a:solidFill>
                  <a:schemeClr val="dk1"/>
                </a:solidFill>
                <a:latin typeface="Arial"/>
                <a:ea typeface="Arial"/>
                <a:cs typeface="Arial"/>
                <a:sym typeface="Arial"/>
              </a:rPr>
              <a:t>.</a:t>
            </a:r>
            <a:endParaRPr sz="16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9"/>
          <p:cNvSpPr txBox="1"/>
          <p:nvPr/>
        </p:nvSpPr>
        <p:spPr>
          <a:xfrm>
            <a:off x="675408" y="1777351"/>
            <a:ext cx="11405755" cy="495520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1600">
                <a:solidFill>
                  <a:schemeClr val="dk1"/>
                </a:solidFill>
                <a:latin typeface="Arial"/>
                <a:ea typeface="Arial"/>
                <a:cs typeface="Arial"/>
                <a:sym typeface="Arial"/>
              </a:rPr>
              <a:t>1. Secure Messaging Platforms</a:t>
            </a:r>
            <a:endParaRPr b="1" sz="1600">
              <a:solidFill>
                <a:schemeClr val="dk1"/>
              </a:solidFill>
              <a:latin typeface="Arial"/>
              <a:ea typeface="Arial"/>
              <a:cs typeface="Arial"/>
              <a:sym typeface="Arial"/>
            </a:endParaRPr>
          </a:p>
          <a:p>
            <a:pPr indent="-88900" lvl="0" marL="0" marR="0" rtl="0" algn="l">
              <a:spcBef>
                <a:spcPts val="0"/>
              </a:spcBef>
              <a:spcAft>
                <a:spcPts val="0"/>
              </a:spcAft>
              <a:buClr>
                <a:schemeClr val="dk1"/>
              </a:buClr>
              <a:buSzPts val="1400"/>
              <a:buFont typeface="Arial"/>
              <a:buChar char="•"/>
            </a:pPr>
            <a:r>
              <a:rPr b="1" lang="it-IT" sz="1400">
                <a:solidFill>
                  <a:schemeClr val="dk1"/>
                </a:solidFill>
                <a:latin typeface="Arial"/>
                <a:ea typeface="Arial"/>
                <a:cs typeface="Arial"/>
                <a:sym typeface="Arial"/>
              </a:rPr>
              <a:t>Signal</a:t>
            </a:r>
            <a:r>
              <a:rPr lang="it-IT" sz="1400">
                <a:solidFill>
                  <a:schemeClr val="dk1"/>
                </a:solidFill>
                <a:latin typeface="Arial"/>
                <a:ea typeface="Arial"/>
                <a:cs typeface="Arial"/>
                <a:sym typeface="Arial"/>
              </a:rPr>
              <a:t>: In 2023, Signal introduced </a:t>
            </a:r>
            <a:r>
              <a:rPr b="1" lang="it-IT" sz="1400">
                <a:solidFill>
                  <a:schemeClr val="dk1"/>
                </a:solidFill>
                <a:latin typeface="Arial"/>
                <a:ea typeface="Arial"/>
                <a:cs typeface="Arial"/>
                <a:sym typeface="Arial"/>
              </a:rPr>
              <a:t>Post-Quantum Extended Diffie-Hellman (PQXDH)</a:t>
            </a:r>
            <a:r>
              <a:rPr lang="it-IT" sz="1400">
                <a:solidFill>
                  <a:schemeClr val="dk1"/>
                </a:solidFill>
                <a:latin typeface="Arial"/>
                <a:ea typeface="Arial"/>
                <a:cs typeface="Arial"/>
                <a:sym typeface="Arial"/>
              </a:rPr>
              <a:t>, incorporating </a:t>
            </a:r>
            <a:r>
              <a:rPr b="1" lang="it-IT" sz="1400">
                <a:solidFill>
                  <a:schemeClr val="dk1"/>
                </a:solidFill>
                <a:latin typeface="Arial"/>
                <a:ea typeface="Arial"/>
                <a:cs typeface="Arial"/>
                <a:sym typeface="Arial"/>
              </a:rPr>
              <a:t>CRYSTALS-Kyber</a:t>
            </a:r>
            <a:r>
              <a:rPr lang="it-IT" sz="1400">
                <a:solidFill>
                  <a:schemeClr val="dk1"/>
                </a:solidFill>
                <a:latin typeface="Arial"/>
                <a:ea typeface="Arial"/>
                <a:cs typeface="Arial"/>
                <a:sym typeface="Arial"/>
              </a:rPr>
              <a:t> for enhanced security against quantum attacks</a:t>
            </a:r>
            <a:endParaRPr sz="1400">
              <a:solidFill>
                <a:schemeClr val="dk1"/>
              </a:solidFill>
              <a:latin typeface="Arial"/>
              <a:ea typeface="Arial"/>
              <a:cs typeface="Arial"/>
              <a:sym typeface="Arial"/>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88900" lvl="0" marL="0" marR="0" rtl="0" algn="l">
              <a:spcBef>
                <a:spcPts val="0"/>
              </a:spcBef>
              <a:spcAft>
                <a:spcPts val="0"/>
              </a:spcAft>
              <a:buClr>
                <a:schemeClr val="dk1"/>
              </a:buClr>
              <a:buSzPts val="1400"/>
              <a:buFont typeface="Arial"/>
              <a:buChar char="•"/>
            </a:pPr>
            <a:r>
              <a:rPr b="1" lang="it-IT" sz="1400">
                <a:solidFill>
                  <a:schemeClr val="dk1"/>
                </a:solidFill>
                <a:latin typeface="Arial"/>
                <a:ea typeface="Arial"/>
                <a:cs typeface="Arial"/>
                <a:sym typeface="Arial"/>
              </a:rPr>
              <a:t>Apple's iMessage</a:t>
            </a:r>
            <a:r>
              <a:rPr lang="it-IT" sz="1400">
                <a:solidFill>
                  <a:schemeClr val="dk1"/>
                </a:solidFill>
                <a:latin typeface="Arial"/>
                <a:ea typeface="Arial"/>
                <a:cs typeface="Arial"/>
                <a:sym typeface="Arial"/>
              </a:rPr>
              <a:t>: In February 2024, Apple announced plans to upgrade iMessage with a new PQC protocol called "PQ3," aiming to mitigate risks from future quantum computers and "harvest now, decrypt later" attack scenarios</a:t>
            </a:r>
            <a:endParaRPr sz="1400">
              <a:solidFill>
                <a:schemeClr val="dk1"/>
              </a:solidFill>
              <a:latin typeface="Arial"/>
              <a:ea typeface="Arial"/>
              <a:cs typeface="Arial"/>
              <a:sym typeface="Arial"/>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it-IT" sz="1600">
                <a:solidFill>
                  <a:schemeClr val="dk1"/>
                </a:solidFill>
                <a:latin typeface="Arial"/>
                <a:ea typeface="Arial"/>
                <a:cs typeface="Arial"/>
                <a:sym typeface="Arial"/>
              </a:rPr>
              <a:t>2. Cloud Services and VPNs</a:t>
            </a:r>
            <a:endParaRPr b="1" sz="1600">
              <a:solidFill>
                <a:schemeClr val="dk1"/>
              </a:solidFill>
              <a:latin typeface="Arial"/>
              <a:ea typeface="Arial"/>
              <a:cs typeface="Arial"/>
              <a:sym typeface="Arial"/>
            </a:endParaRPr>
          </a:p>
          <a:p>
            <a:pPr indent="-88900" lvl="0" marL="0" marR="0" rtl="0" algn="l">
              <a:spcBef>
                <a:spcPts val="0"/>
              </a:spcBef>
              <a:spcAft>
                <a:spcPts val="0"/>
              </a:spcAft>
              <a:buClr>
                <a:schemeClr val="dk1"/>
              </a:buClr>
              <a:buSzPts val="1400"/>
              <a:buFont typeface="Arial"/>
              <a:buChar char="•"/>
            </a:pPr>
            <a:r>
              <a:rPr b="1" lang="it-IT" sz="1400">
                <a:solidFill>
                  <a:schemeClr val="dk1"/>
                </a:solidFill>
                <a:latin typeface="Arial"/>
                <a:ea typeface="Arial"/>
                <a:cs typeface="Arial"/>
                <a:sym typeface="Arial"/>
              </a:rPr>
              <a:t>Amazon Web Services (AWS)</a:t>
            </a:r>
            <a:r>
              <a:rPr lang="it-IT" sz="1400">
                <a:solidFill>
                  <a:schemeClr val="dk1"/>
                </a:solidFill>
                <a:latin typeface="Arial"/>
                <a:ea typeface="Arial"/>
                <a:cs typeface="Arial"/>
                <a:sym typeface="Arial"/>
              </a:rPr>
              <a:t>: AWS integrated </a:t>
            </a:r>
            <a:r>
              <a:rPr b="1" lang="it-IT" sz="1400">
                <a:solidFill>
                  <a:schemeClr val="dk1"/>
                </a:solidFill>
                <a:latin typeface="Arial"/>
                <a:ea typeface="Arial"/>
                <a:cs typeface="Arial"/>
                <a:sym typeface="Arial"/>
              </a:rPr>
              <a:t>CRYSTALS-Kyber</a:t>
            </a:r>
            <a:r>
              <a:rPr lang="it-IT" sz="1400">
                <a:solidFill>
                  <a:schemeClr val="dk1"/>
                </a:solidFill>
                <a:latin typeface="Arial"/>
                <a:ea typeface="Arial"/>
                <a:cs typeface="Arial"/>
                <a:sym typeface="Arial"/>
              </a:rPr>
              <a:t> into their Key Management Service (KMS) in 2020, offering a hybrid post-quantum key exchange option for TLS connections</a:t>
            </a:r>
            <a:endParaRPr/>
          </a:p>
          <a:p>
            <a:pPr indent="0" lvl="0" marL="0" marR="0" rtl="0" algn="l">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a:p>
            <a:pPr indent="-88900" lvl="0" marL="0" marR="0" rtl="0" algn="l">
              <a:spcBef>
                <a:spcPts val="0"/>
              </a:spcBef>
              <a:spcAft>
                <a:spcPts val="0"/>
              </a:spcAft>
              <a:buClr>
                <a:schemeClr val="dk1"/>
              </a:buClr>
              <a:buSzPts val="1400"/>
              <a:buFont typeface="Arial"/>
              <a:buChar char="•"/>
            </a:pPr>
            <a:r>
              <a:rPr b="1" lang="it-IT" sz="1400">
                <a:solidFill>
                  <a:schemeClr val="dk1"/>
                </a:solidFill>
                <a:latin typeface="Arial"/>
                <a:ea typeface="Arial"/>
                <a:cs typeface="Arial"/>
                <a:sym typeface="Arial"/>
              </a:rPr>
              <a:t>PureVPN</a:t>
            </a:r>
            <a:r>
              <a:rPr lang="it-IT" sz="1400">
                <a:solidFill>
                  <a:schemeClr val="dk1"/>
                </a:solidFill>
                <a:latin typeface="Arial"/>
                <a:ea typeface="Arial"/>
                <a:cs typeface="Arial"/>
                <a:sym typeface="Arial"/>
              </a:rPr>
              <a:t>: In April 2022, PureVPN partnered with Quantinuum to incorporate quantum-resistant encryption keys into their VPN services, enhancing security against future quantum threats</a:t>
            </a:r>
            <a:endParaRPr sz="1400">
              <a:solidFill>
                <a:schemeClr val="dk1"/>
              </a:solidFill>
              <a:latin typeface="Arial"/>
              <a:ea typeface="Arial"/>
              <a:cs typeface="Arial"/>
              <a:sym typeface="Arial"/>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it-IT" sz="1600">
                <a:solidFill>
                  <a:schemeClr val="dk1"/>
                </a:solidFill>
                <a:latin typeface="Arial"/>
                <a:ea typeface="Arial"/>
                <a:cs typeface="Arial"/>
                <a:sym typeface="Arial"/>
              </a:rPr>
              <a:t>3. Hardware and IoT Devices</a:t>
            </a:r>
            <a:endParaRPr/>
          </a:p>
          <a:p>
            <a:pPr indent="-88900" lvl="0" marL="0" marR="0" rtl="0" algn="l">
              <a:spcBef>
                <a:spcPts val="0"/>
              </a:spcBef>
              <a:spcAft>
                <a:spcPts val="0"/>
              </a:spcAft>
              <a:buClr>
                <a:schemeClr val="dk1"/>
              </a:buClr>
              <a:buSzPts val="1400"/>
              <a:buFont typeface="Arial"/>
              <a:buChar char="•"/>
            </a:pPr>
            <a:r>
              <a:rPr b="1" lang="it-IT" sz="1400">
                <a:solidFill>
                  <a:schemeClr val="dk1"/>
                </a:solidFill>
                <a:latin typeface="Arial"/>
                <a:ea typeface="Arial"/>
                <a:cs typeface="Arial"/>
                <a:sym typeface="Arial"/>
              </a:rPr>
              <a:t>Honeywell</a:t>
            </a:r>
            <a:r>
              <a:rPr lang="it-IT" sz="1400">
                <a:solidFill>
                  <a:schemeClr val="dk1"/>
                </a:solidFill>
                <a:latin typeface="Arial"/>
                <a:ea typeface="Arial"/>
                <a:cs typeface="Arial"/>
                <a:sym typeface="Arial"/>
              </a:rPr>
              <a:t>: In 2023, Honeywell collaborated with Quantinuum to integrate quantum-hardened keys into smart utility meters, strengthening device security against cyberattacks</a:t>
            </a:r>
            <a:endParaRPr sz="1400">
              <a:solidFill>
                <a:schemeClr val="dk1"/>
              </a:solidFill>
              <a:latin typeface="Arial"/>
              <a:ea typeface="Arial"/>
              <a:cs typeface="Arial"/>
              <a:sym typeface="Arial"/>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it-IT" sz="1600">
                <a:solidFill>
                  <a:schemeClr val="dk1"/>
                </a:solidFill>
                <a:latin typeface="Arial"/>
                <a:ea typeface="Arial"/>
                <a:cs typeface="Arial"/>
                <a:sym typeface="Arial"/>
              </a:rPr>
              <a:t>4. Financial Institutions</a:t>
            </a:r>
            <a:endParaRPr/>
          </a:p>
          <a:p>
            <a:pPr indent="-88900" lvl="0" marL="0" marR="0" rtl="0" algn="l">
              <a:spcBef>
                <a:spcPts val="0"/>
              </a:spcBef>
              <a:spcAft>
                <a:spcPts val="0"/>
              </a:spcAft>
              <a:buClr>
                <a:schemeClr val="dk1"/>
              </a:buClr>
              <a:buSzPts val="1400"/>
              <a:buFont typeface="Arial"/>
              <a:buChar char="•"/>
            </a:pPr>
            <a:r>
              <a:rPr b="1" lang="it-IT" sz="1400">
                <a:solidFill>
                  <a:schemeClr val="dk1"/>
                </a:solidFill>
                <a:latin typeface="Arial"/>
                <a:ea typeface="Arial"/>
                <a:cs typeface="Arial"/>
                <a:sym typeface="Arial"/>
              </a:rPr>
              <a:t>LGT Financial Services</a:t>
            </a:r>
            <a:r>
              <a:rPr lang="it-IT" sz="1400">
                <a:solidFill>
                  <a:schemeClr val="dk1"/>
                </a:solidFill>
                <a:latin typeface="Arial"/>
                <a:ea typeface="Arial"/>
                <a:cs typeface="Arial"/>
                <a:sym typeface="Arial"/>
              </a:rPr>
              <a:t>: Plans to implement NIST's PQC algorithms into their mobile applications by 2025 to safeguard against future quantum threats</a:t>
            </a:r>
            <a:endParaRPr sz="1400">
              <a:solidFill>
                <a:schemeClr val="dk1"/>
              </a:solidFill>
              <a:latin typeface="Arial"/>
              <a:ea typeface="Arial"/>
              <a:cs typeface="Arial"/>
              <a:sym typeface="Arial"/>
            </a:endParaRPr>
          </a:p>
          <a:p>
            <a:pPr indent="0" lvl="0" marL="0" marR="0" rtl="0" algn="l">
              <a:spcBef>
                <a:spcPts val="0"/>
              </a:spcBef>
              <a:spcAft>
                <a:spcPts val="0"/>
              </a:spcAft>
              <a:buNone/>
            </a:pPr>
            <a:r>
              <a:t/>
            </a:r>
            <a:endParaRPr b="1" sz="1400">
              <a:solidFill>
                <a:schemeClr val="dk1"/>
              </a:solidFill>
              <a:latin typeface="Arial"/>
              <a:ea typeface="Arial"/>
              <a:cs typeface="Arial"/>
              <a:sym typeface="Arial"/>
            </a:endParaRPr>
          </a:p>
        </p:txBody>
      </p:sp>
      <p:sp>
        <p:nvSpPr>
          <p:cNvPr id="148" name="Google Shape;148;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Real-World Applications of NIST-Approved Algorithms</a:t>
            </a:r>
            <a:endParaRPr sz="2800">
              <a:latin typeface="Arial"/>
              <a:ea typeface="Arial"/>
              <a:cs typeface="Arial"/>
              <a:sym typeface="Arial"/>
            </a:endParaRPr>
          </a:p>
        </p:txBody>
      </p:sp>
      <p:sp>
        <p:nvSpPr>
          <p:cNvPr id="149" name="Google Shape;149;p9"/>
          <p:cNvSpPr txBox="1"/>
          <p:nvPr>
            <p:ph idx="1" type="body"/>
          </p:nvPr>
        </p:nvSpPr>
        <p:spPr>
          <a:xfrm>
            <a:off x="838200" y="1469376"/>
            <a:ext cx="10515600" cy="307975"/>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b="1" lang="it-IT" sz="1800">
                <a:latin typeface="Arial"/>
                <a:ea typeface="Arial"/>
                <a:cs typeface="Arial"/>
                <a:sym typeface="Arial"/>
              </a:rPr>
              <a:t>Where and how these algorithms are being deployed</a:t>
            </a:r>
            <a:endParaRPr/>
          </a:p>
          <a:p>
            <a:pPr indent="0" lvl="0" marL="0" rtl="0" algn="l">
              <a:lnSpc>
                <a:spcPct val="90000"/>
              </a:lnSpc>
              <a:spcBef>
                <a:spcPts val="1000"/>
              </a:spcBef>
              <a:spcAft>
                <a:spcPts val="0"/>
              </a:spcAft>
              <a:buClr>
                <a:schemeClr val="dk1"/>
              </a:buClr>
              <a:buSzPct val="100000"/>
              <a:buNone/>
            </a:pPr>
            <a:r>
              <a:t/>
            </a:r>
            <a:endParaRPr/>
          </a:p>
        </p:txBody>
      </p:sp>
      <p:pic>
        <p:nvPicPr>
          <p:cNvPr id="150" name="Google Shape;150;p9"/>
          <p:cNvPicPr preferRelativeResize="0"/>
          <p:nvPr/>
        </p:nvPicPr>
        <p:blipFill rotWithShape="1">
          <a:blip r:embed="rId3">
            <a:alphaModFix/>
          </a:blip>
          <a:srcRect b="0" l="0" r="0" t="0"/>
          <a:stretch/>
        </p:blipFill>
        <p:spPr>
          <a:xfrm>
            <a:off x="3476376" y="2272939"/>
            <a:ext cx="1081769" cy="329737"/>
          </a:xfrm>
          <a:prstGeom prst="rect">
            <a:avLst/>
          </a:prstGeom>
          <a:noFill/>
          <a:ln>
            <a:noFill/>
          </a:ln>
        </p:spPr>
      </p:pic>
      <p:pic>
        <p:nvPicPr>
          <p:cNvPr descr="Logo" id="151" name="Google Shape;151;p9"/>
          <p:cNvPicPr preferRelativeResize="0"/>
          <p:nvPr/>
        </p:nvPicPr>
        <p:blipFill rotWithShape="1">
          <a:blip r:embed="rId4">
            <a:alphaModFix/>
          </a:blip>
          <a:srcRect b="0" l="0" r="0" t="0"/>
          <a:stretch/>
        </p:blipFill>
        <p:spPr>
          <a:xfrm>
            <a:off x="7612207" y="2881602"/>
            <a:ext cx="547398" cy="547398"/>
          </a:xfrm>
          <a:prstGeom prst="rect">
            <a:avLst/>
          </a:prstGeom>
          <a:noFill/>
          <a:ln>
            <a:noFill/>
          </a:ln>
        </p:spPr>
      </p:pic>
      <p:pic>
        <p:nvPicPr>
          <p:cNvPr id="152" name="Google Shape;152;p9"/>
          <p:cNvPicPr preferRelativeResize="0"/>
          <p:nvPr/>
        </p:nvPicPr>
        <p:blipFill rotWithShape="1">
          <a:blip r:embed="rId5">
            <a:alphaModFix/>
          </a:blip>
          <a:srcRect b="0" l="0" r="0" t="0"/>
          <a:stretch/>
        </p:blipFill>
        <p:spPr>
          <a:xfrm>
            <a:off x="4824797" y="3843135"/>
            <a:ext cx="523057" cy="348705"/>
          </a:xfrm>
          <a:prstGeom prst="rect">
            <a:avLst/>
          </a:prstGeom>
          <a:noFill/>
          <a:ln>
            <a:noFill/>
          </a:ln>
        </p:spPr>
      </p:pic>
      <p:pic>
        <p:nvPicPr>
          <p:cNvPr id="153" name="Google Shape;153;p9"/>
          <p:cNvPicPr preferRelativeResize="0"/>
          <p:nvPr/>
        </p:nvPicPr>
        <p:blipFill rotWithShape="1">
          <a:blip r:embed="rId6">
            <a:alphaModFix/>
          </a:blip>
          <a:srcRect b="0" l="0" r="0" t="0"/>
          <a:stretch/>
        </p:blipFill>
        <p:spPr>
          <a:xfrm>
            <a:off x="4824797" y="4499814"/>
            <a:ext cx="1025026" cy="367757"/>
          </a:xfrm>
          <a:prstGeom prst="rect">
            <a:avLst/>
          </a:prstGeom>
          <a:noFill/>
          <a:ln>
            <a:noFill/>
          </a:ln>
        </p:spPr>
      </p:pic>
      <p:pic>
        <p:nvPicPr>
          <p:cNvPr id="154" name="Google Shape;154;p9"/>
          <p:cNvPicPr preferRelativeResize="0"/>
          <p:nvPr/>
        </p:nvPicPr>
        <p:blipFill rotWithShape="1">
          <a:blip r:embed="rId7">
            <a:alphaModFix/>
          </a:blip>
          <a:srcRect b="0" l="0" r="0" t="0"/>
          <a:stretch/>
        </p:blipFill>
        <p:spPr>
          <a:xfrm>
            <a:off x="3632339" y="5300406"/>
            <a:ext cx="1315440" cy="367757"/>
          </a:xfrm>
          <a:prstGeom prst="rect">
            <a:avLst/>
          </a:prstGeom>
          <a:noFill/>
          <a:ln>
            <a:noFill/>
          </a:ln>
        </p:spPr>
      </p:pic>
      <p:pic>
        <p:nvPicPr>
          <p:cNvPr id="155" name="Google Shape;155;p9"/>
          <p:cNvPicPr preferRelativeResize="0"/>
          <p:nvPr/>
        </p:nvPicPr>
        <p:blipFill rotWithShape="1">
          <a:blip r:embed="rId8">
            <a:alphaModFix/>
          </a:blip>
          <a:srcRect b="0" l="0" r="0" t="0"/>
          <a:stretch/>
        </p:blipFill>
        <p:spPr>
          <a:xfrm>
            <a:off x="2129208" y="6219863"/>
            <a:ext cx="553942" cy="51269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Finance Sector</a:t>
            </a:r>
            <a:endParaRPr sz="2800">
              <a:latin typeface="Arial"/>
              <a:ea typeface="Arial"/>
              <a:cs typeface="Arial"/>
              <a:sym typeface="Arial"/>
            </a:endParaRPr>
          </a:p>
        </p:txBody>
      </p:sp>
      <p:sp>
        <p:nvSpPr>
          <p:cNvPr id="161" name="Google Shape;161;p10"/>
          <p:cNvSpPr txBox="1"/>
          <p:nvPr/>
        </p:nvSpPr>
        <p:spPr>
          <a:xfrm>
            <a:off x="838199" y="1291119"/>
            <a:ext cx="10411691"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it-IT" sz="1800" u="none" strike="noStrike">
                <a:solidFill>
                  <a:srgbClr val="000000"/>
                </a:solidFill>
                <a:latin typeface="Arial"/>
                <a:ea typeface="Arial"/>
                <a:cs typeface="Arial"/>
                <a:sym typeface="Arial"/>
              </a:rPr>
              <a:t>Financial institutions handle sensitive data and high-value transactions that must remain secure for decades, making them early movers in PQC implementation. </a:t>
            </a:r>
            <a:endParaRPr/>
          </a:p>
          <a:p>
            <a:pPr indent="0" lvl="0" marL="0" marR="0" rtl="0" algn="l">
              <a:spcBef>
                <a:spcPts val="0"/>
              </a:spcBef>
              <a:spcAft>
                <a:spcPts val="0"/>
              </a:spcAft>
              <a:buNone/>
            </a:pPr>
            <a:r>
              <a:t/>
            </a:r>
            <a:endParaRPr b="0" sz="1800">
              <a:solidFill>
                <a:schemeClr val="dk1"/>
              </a:solidFill>
              <a:latin typeface="Calibri"/>
              <a:ea typeface="Calibri"/>
              <a:cs typeface="Calibri"/>
              <a:sym typeface="Calibri"/>
            </a:endParaRPr>
          </a:p>
          <a:p>
            <a:pPr indent="0" lvl="0" marL="0" marR="0" rtl="0" algn="l">
              <a:spcBef>
                <a:spcPts val="0"/>
              </a:spcBef>
              <a:spcAft>
                <a:spcPts val="0"/>
              </a:spcAft>
              <a:buNone/>
            </a:pPr>
            <a:r>
              <a:rPr b="0" i="0" lang="it-IT" sz="1800" u="none" strike="noStrike">
                <a:solidFill>
                  <a:srgbClr val="000000"/>
                </a:solidFill>
                <a:latin typeface="Arial"/>
                <a:ea typeface="Arial"/>
                <a:cs typeface="Arial"/>
                <a:sym typeface="Arial"/>
              </a:rPr>
              <a:t>Recent real-world deployments in banking and payments include:</a:t>
            </a:r>
            <a:endParaRPr b="0" sz="1800">
              <a:solidFill>
                <a:schemeClr val="dk1"/>
              </a:solidFill>
              <a:latin typeface="Calibri"/>
              <a:ea typeface="Calibri"/>
              <a:cs typeface="Calibri"/>
              <a:sym typeface="Calibri"/>
            </a:endParaRPr>
          </a:p>
          <a:p>
            <a:pPr indent="0" lvl="0" marL="0" marR="0" rtl="0" algn="l">
              <a:spcBef>
                <a:spcPts val="0"/>
              </a:spcBef>
              <a:spcAft>
                <a:spcPts val="0"/>
              </a:spcAft>
              <a:buNone/>
            </a:pPr>
            <a:br>
              <a:rPr lang="it-IT"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
        <p:nvSpPr>
          <p:cNvPr id="162" name="Google Shape;162;p10"/>
          <p:cNvSpPr txBox="1"/>
          <p:nvPr/>
        </p:nvSpPr>
        <p:spPr>
          <a:xfrm>
            <a:off x="838198" y="2616682"/>
            <a:ext cx="10515600" cy="43396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it-IT" sz="1600" u="none" strike="noStrike">
                <a:solidFill>
                  <a:srgbClr val="000000"/>
                </a:solidFill>
                <a:latin typeface="Arial"/>
                <a:ea typeface="Arial"/>
                <a:cs typeface="Arial"/>
                <a:sym typeface="Arial"/>
              </a:rPr>
              <a:t>A) Central Banks (MAS &amp; Banque de France)</a:t>
            </a:r>
            <a:r>
              <a:rPr b="0" i="0" lang="it-IT" sz="1600" u="none" strike="noStrike">
                <a:solidFill>
                  <a:srgbClr val="000000"/>
                </a:solidFill>
                <a:latin typeface="Arial"/>
                <a:ea typeface="Arial"/>
                <a:cs typeface="Arial"/>
                <a:sym typeface="Arial"/>
              </a:rPr>
              <a:t> – In 2024, the Monetary Authority of Singapore (MAS) and Banque de France jointly </a:t>
            </a:r>
            <a:r>
              <a:rPr b="1" i="0" lang="it-IT" sz="1600" u="none" strike="noStrike">
                <a:solidFill>
                  <a:srgbClr val="000000"/>
                </a:solidFill>
                <a:latin typeface="Arial"/>
                <a:ea typeface="Arial"/>
                <a:cs typeface="Arial"/>
                <a:sym typeface="Arial"/>
              </a:rPr>
              <a:t>trialed PQC safeguards for financial communications</a:t>
            </a:r>
            <a:r>
              <a:rPr b="0" i="0" lang="it-IT" sz="1600" u="none" strike="noStrike">
                <a:solidFill>
                  <a:srgbClr val="000000"/>
                </a:solidFill>
                <a:latin typeface="Arial"/>
                <a:ea typeface="Arial"/>
                <a:cs typeface="Arial"/>
                <a:sym typeface="Arial"/>
              </a:rPr>
              <a:t>. The experiment used a plugin for Microsoft Outlook that combined classical and post-quantum algorithms to </a:t>
            </a:r>
            <a:r>
              <a:rPr b="1" i="0" lang="it-IT" sz="1600" u="none" strike="noStrike">
                <a:solidFill>
                  <a:srgbClr val="000000"/>
                </a:solidFill>
                <a:latin typeface="Arial"/>
                <a:ea typeface="Arial"/>
                <a:cs typeface="Arial"/>
                <a:sym typeface="Arial"/>
              </a:rPr>
              <a:t>digitally sign and encrypt emails</a:t>
            </a:r>
            <a:r>
              <a:rPr b="0" i="0" lang="it-IT" sz="1600" u="none" strike="noStrike">
                <a:solidFill>
                  <a:srgbClr val="000000"/>
                </a:solidFill>
                <a:latin typeface="Arial"/>
                <a:ea typeface="Arial"/>
                <a:cs typeface="Arial"/>
                <a:sym typeface="Arial"/>
              </a:rPr>
              <a:t> between the two institutions​</a:t>
            </a:r>
            <a:endParaRPr b="0" sz="1600">
              <a:solidFill>
                <a:schemeClr val="dk1"/>
              </a:solidFill>
              <a:latin typeface="Arial"/>
              <a:ea typeface="Arial"/>
              <a:cs typeface="Arial"/>
              <a:sym typeface="Arial"/>
            </a:endParaRPr>
          </a:p>
          <a:p>
            <a:pPr indent="0" lvl="0" marL="0" marR="0" rtl="0" algn="l">
              <a:spcBef>
                <a:spcPts val="0"/>
              </a:spcBef>
              <a:spcAft>
                <a:spcPts val="0"/>
              </a:spcAft>
              <a:buNone/>
            </a:pPr>
            <a:r>
              <a:t/>
            </a:r>
            <a:endParaRPr b="0" i="0" sz="1600" u="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it-IT" sz="1600" u="none" strike="noStrike">
                <a:solidFill>
                  <a:srgbClr val="000000"/>
                </a:solidFill>
                <a:latin typeface="Arial"/>
                <a:ea typeface="Arial"/>
                <a:cs typeface="Arial"/>
                <a:sym typeface="Arial"/>
              </a:rPr>
              <a:t>Specifically, they employed NIST’s lattice-based </a:t>
            </a:r>
            <a:r>
              <a:rPr b="1" i="0" lang="it-IT" sz="1600" u="none" strike="noStrike">
                <a:solidFill>
                  <a:srgbClr val="000000"/>
                </a:solidFill>
                <a:latin typeface="Arial"/>
                <a:ea typeface="Arial"/>
                <a:cs typeface="Arial"/>
                <a:sym typeface="Arial"/>
              </a:rPr>
              <a:t>CRYSTALS-Dilithium (signature)</a:t>
            </a:r>
            <a:r>
              <a:rPr b="0" i="0" lang="it-IT" sz="1600" u="none" strike="noStrike">
                <a:solidFill>
                  <a:srgbClr val="000000"/>
                </a:solidFill>
                <a:latin typeface="Arial"/>
                <a:ea typeface="Arial"/>
                <a:cs typeface="Arial"/>
                <a:sym typeface="Arial"/>
              </a:rPr>
              <a:t> and </a:t>
            </a:r>
            <a:r>
              <a:rPr b="1" i="0" lang="it-IT" sz="1600" u="none" strike="noStrike">
                <a:solidFill>
                  <a:srgbClr val="000000"/>
                </a:solidFill>
                <a:latin typeface="Arial"/>
                <a:ea typeface="Arial"/>
                <a:cs typeface="Arial"/>
                <a:sym typeface="Arial"/>
              </a:rPr>
              <a:t>CRYSTALS-Kyber (encryption)</a:t>
            </a:r>
            <a:r>
              <a:rPr b="0" i="0" lang="it-IT" sz="1600" u="none" strike="noStrike">
                <a:solidFill>
                  <a:srgbClr val="000000"/>
                </a:solidFill>
                <a:latin typeface="Arial"/>
                <a:ea typeface="Arial"/>
                <a:cs typeface="Arial"/>
                <a:sym typeface="Arial"/>
              </a:rPr>
              <a:t> algorithms, successfully exchanging quantum-safe signed email messages​</a:t>
            </a:r>
            <a:endParaRPr b="0" sz="1600">
              <a:solidFill>
                <a:schemeClr val="dk1"/>
              </a:solidFill>
              <a:latin typeface="Arial"/>
              <a:ea typeface="Arial"/>
              <a:cs typeface="Arial"/>
              <a:sym typeface="Arial"/>
            </a:endParaRPr>
          </a:p>
          <a:p>
            <a:pPr indent="0" lvl="0" marL="0" marR="0" rtl="0" algn="l">
              <a:spcBef>
                <a:spcPts val="0"/>
              </a:spcBef>
              <a:spcAft>
                <a:spcPts val="0"/>
              </a:spcAft>
              <a:buNone/>
            </a:pPr>
            <a:r>
              <a:rPr b="0" i="0" lang="it-IT" sz="1600" u="none" strike="noStrike">
                <a:solidFill>
                  <a:srgbClr val="000000"/>
                </a:solidFill>
                <a:latin typeface="Arial"/>
                <a:ea typeface="Arial"/>
                <a:cs typeface="Arial"/>
                <a:sym typeface="Arial"/>
              </a:rPr>
              <a:t>​</a:t>
            </a:r>
            <a:endParaRPr b="0" sz="1600">
              <a:solidFill>
                <a:schemeClr val="dk1"/>
              </a:solidFill>
              <a:latin typeface="Arial"/>
              <a:ea typeface="Arial"/>
              <a:cs typeface="Arial"/>
              <a:sym typeface="Arial"/>
            </a:endParaRPr>
          </a:p>
          <a:p>
            <a:pPr indent="0" lvl="0" marL="0" marR="0" rtl="0" algn="l">
              <a:spcBef>
                <a:spcPts val="0"/>
              </a:spcBef>
              <a:spcAft>
                <a:spcPts val="0"/>
              </a:spcAft>
              <a:buNone/>
            </a:pPr>
            <a:r>
              <a:rPr b="0" i="0" lang="it-IT" sz="1600" u="none" strike="noStrike">
                <a:solidFill>
                  <a:srgbClr val="000000"/>
                </a:solidFill>
                <a:latin typeface="Arial"/>
                <a:ea typeface="Arial"/>
                <a:cs typeface="Arial"/>
                <a:sym typeface="Arial"/>
              </a:rPr>
              <a:t>This real-world test highlighted practical considerations beyond just algorithms – the banks noted that </a:t>
            </a:r>
            <a:r>
              <a:rPr b="1" i="0" lang="it-IT" sz="1600" u="none" strike="noStrike">
                <a:solidFill>
                  <a:srgbClr val="000000"/>
                </a:solidFill>
                <a:latin typeface="Arial"/>
                <a:ea typeface="Arial"/>
                <a:cs typeface="Arial"/>
                <a:sym typeface="Arial"/>
              </a:rPr>
              <a:t>updating underlying infrastructure (PKI, digital certificates, key exchange protocols)</a:t>
            </a:r>
            <a:r>
              <a:rPr b="0" i="0" lang="it-IT" sz="1600" u="none" strike="noStrike">
                <a:solidFill>
                  <a:srgbClr val="000000"/>
                </a:solidFill>
                <a:latin typeface="Arial"/>
                <a:ea typeface="Arial"/>
                <a:cs typeface="Arial"/>
                <a:sym typeface="Arial"/>
              </a:rPr>
              <a:t> is also crucial for widespread PQC adoption​</a:t>
            </a:r>
            <a:endParaRPr b="0" sz="1600">
              <a:solidFill>
                <a:schemeClr val="dk1"/>
              </a:solidFill>
              <a:latin typeface="Arial"/>
              <a:ea typeface="Arial"/>
              <a:cs typeface="Arial"/>
              <a:sym typeface="Arial"/>
            </a:endParaRPr>
          </a:p>
          <a:p>
            <a:pPr indent="0" lvl="0" marL="0" marR="0" rtl="0" algn="l">
              <a:spcBef>
                <a:spcPts val="0"/>
              </a:spcBef>
              <a:spcAft>
                <a:spcPts val="0"/>
              </a:spcAft>
              <a:buNone/>
            </a:pPr>
            <a:r>
              <a:t/>
            </a:r>
            <a:endParaRPr sz="1600">
              <a:solidFill>
                <a:srgbClr val="000000"/>
              </a:solidFill>
              <a:latin typeface="Arial"/>
              <a:ea typeface="Arial"/>
              <a:cs typeface="Arial"/>
              <a:sym typeface="Arial"/>
            </a:endParaRPr>
          </a:p>
          <a:p>
            <a:pPr indent="0" lvl="0" marL="0" marR="0" rtl="0" algn="l">
              <a:spcBef>
                <a:spcPts val="0"/>
              </a:spcBef>
              <a:spcAft>
                <a:spcPts val="0"/>
              </a:spcAft>
              <a:buNone/>
            </a:pPr>
            <a:r>
              <a:rPr b="0" i="0" lang="it-IT" sz="1600" u="none" strike="noStrike">
                <a:solidFill>
                  <a:srgbClr val="000000"/>
                </a:solidFill>
                <a:latin typeface="Arial"/>
                <a:ea typeface="Arial"/>
                <a:cs typeface="Arial"/>
                <a:sym typeface="Arial"/>
              </a:rPr>
              <a:t>Following the secure email trial, MAS and BdF announced plans to extend PQC to </a:t>
            </a:r>
            <a:r>
              <a:rPr b="1" i="0" lang="it-IT" sz="1600" u="none" strike="noStrike">
                <a:solidFill>
                  <a:srgbClr val="000000"/>
                </a:solidFill>
                <a:latin typeface="Arial"/>
                <a:ea typeface="Arial"/>
                <a:cs typeface="Arial"/>
                <a:sym typeface="Arial"/>
              </a:rPr>
              <a:t>critical financial transactions, including cross-border payment networks</a:t>
            </a:r>
            <a:r>
              <a:rPr b="0" i="0" lang="it-IT" sz="1600" u="none" strike="noStrike">
                <a:solidFill>
                  <a:srgbClr val="000000"/>
                </a:solidFill>
                <a:latin typeface="Arial"/>
                <a:ea typeface="Arial"/>
                <a:cs typeface="Arial"/>
                <a:sym typeface="Arial"/>
              </a:rPr>
              <a:t>, to ensure future payment security against quantum threats​</a:t>
            </a:r>
            <a:endParaRPr b="0" sz="1600">
              <a:solidFill>
                <a:schemeClr val="dk1"/>
              </a:solidFill>
              <a:latin typeface="Arial"/>
              <a:ea typeface="Arial"/>
              <a:cs typeface="Arial"/>
              <a:sym typeface="Arial"/>
            </a:endParaRPr>
          </a:p>
          <a:p>
            <a:pPr indent="0" lvl="0" marL="0" marR="0" rtl="0" algn="l">
              <a:spcBef>
                <a:spcPts val="0"/>
              </a:spcBef>
              <a:spcAft>
                <a:spcPts val="0"/>
              </a:spcAft>
              <a:buNone/>
            </a:pPr>
            <a:r>
              <a:rPr b="0" i="0" lang="it-IT" sz="1600" u="none" strike="noStrike">
                <a:solidFill>
                  <a:srgbClr val="000000"/>
                </a:solidFill>
                <a:latin typeface="Arial"/>
                <a:ea typeface="Arial"/>
                <a:cs typeface="Arial"/>
                <a:sym typeface="Arial"/>
              </a:rPr>
              <a:t>.</a:t>
            </a:r>
            <a:endParaRPr b="0" sz="1600">
              <a:solidFill>
                <a:schemeClr val="dk1"/>
              </a:solidFill>
              <a:latin typeface="Arial"/>
              <a:ea typeface="Arial"/>
              <a:cs typeface="Arial"/>
              <a:sym typeface="Arial"/>
            </a:endParaRPr>
          </a:p>
          <a:p>
            <a:pPr indent="0" lvl="0" marL="0" marR="0" rtl="0" algn="l">
              <a:spcBef>
                <a:spcPts val="0"/>
              </a:spcBef>
              <a:spcAft>
                <a:spcPts val="0"/>
              </a:spcAft>
              <a:buNone/>
            </a:pPr>
            <a:br>
              <a:rPr lang="it-IT"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Finance Sector</a:t>
            </a:r>
            <a:endParaRPr sz="2800">
              <a:latin typeface="Arial"/>
              <a:ea typeface="Arial"/>
              <a:cs typeface="Arial"/>
              <a:sym typeface="Arial"/>
            </a:endParaRPr>
          </a:p>
        </p:txBody>
      </p:sp>
      <p:sp>
        <p:nvSpPr>
          <p:cNvPr id="168" name="Google Shape;168;p11"/>
          <p:cNvSpPr txBox="1"/>
          <p:nvPr/>
        </p:nvSpPr>
        <p:spPr>
          <a:xfrm>
            <a:off x="969818" y="1690688"/>
            <a:ext cx="10695709" cy="35394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1600">
                <a:solidFill>
                  <a:schemeClr val="dk1"/>
                </a:solidFill>
                <a:latin typeface="Arial"/>
                <a:ea typeface="Arial"/>
                <a:cs typeface="Arial"/>
                <a:sym typeface="Arial"/>
              </a:rPr>
              <a:t>B) Banco Sabadell (Commercial Banking) </a:t>
            </a:r>
            <a:r>
              <a:rPr lang="it-IT" sz="1600">
                <a:solidFill>
                  <a:schemeClr val="dk1"/>
                </a:solidFill>
                <a:latin typeface="Arial"/>
                <a:ea typeface="Arial"/>
                <a:cs typeface="Arial"/>
                <a:sym typeface="Arial"/>
              </a:rPr>
              <a:t>– Spain’s Banco Sabadell completed a four-month pilot integration of PQC into its banking infrastructure in late 2024. In collaboration with Accenture and QuSecure, the bank used QuSecure’s cryptographic orchestration software along with </a:t>
            </a:r>
            <a:r>
              <a:rPr b="1" lang="it-IT" sz="1600">
                <a:solidFill>
                  <a:schemeClr val="dk1"/>
                </a:solidFill>
                <a:latin typeface="Arial"/>
                <a:ea typeface="Arial"/>
                <a:cs typeface="Arial"/>
                <a:sym typeface="Arial"/>
              </a:rPr>
              <a:t>open-source PQC libraries </a:t>
            </a:r>
            <a:r>
              <a:rPr lang="it-IT" sz="1600">
                <a:solidFill>
                  <a:schemeClr val="dk1"/>
                </a:solidFill>
                <a:latin typeface="Arial"/>
                <a:ea typeface="Arial"/>
                <a:cs typeface="Arial"/>
                <a:sym typeface="Arial"/>
              </a:rPr>
              <a:t>to modernize its encryption systems without major hardware changes​</a:t>
            </a:r>
            <a:endParaRPr/>
          </a:p>
          <a:p>
            <a:pPr indent="0" lvl="0" marL="0" marR="0" rtl="0" algn="l">
              <a:spcBef>
                <a:spcPts val="0"/>
              </a:spcBef>
              <a:spcAft>
                <a:spcPts val="0"/>
              </a:spcAft>
              <a:buNone/>
            </a:pPr>
            <a:r>
              <a:rPr lang="it-IT" sz="1600">
                <a:solidFill>
                  <a:schemeClr val="dk1"/>
                </a:solidFill>
                <a:latin typeface="Arial"/>
                <a:ea typeface="Arial"/>
                <a:cs typeface="Arial"/>
                <a:sym typeface="Arial"/>
              </a:rPr>
              <a:t>​</a:t>
            </a:r>
            <a:endParaRPr/>
          </a:p>
          <a:p>
            <a:pPr indent="0" lvl="0" marL="0" marR="0" rtl="0" algn="l">
              <a:spcBef>
                <a:spcPts val="0"/>
              </a:spcBef>
              <a:spcAft>
                <a:spcPts val="0"/>
              </a:spcAft>
              <a:buNone/>
            </a:pPr>
            <a:r>
              <a:rPr lang="it-IT" sz="1600">
                <a:solidFill>
                  <a:schemeClr val="dk1"/>
                </a:solidFill>
                <a:latin typeface="Arial"/>
                <a:ea typeface="Arial"/>
                <a:cs typeface="Arial"/>
                <a:sym typeface="Arial"/>
              </a:rPr>
              <a:t>The pilot introduced quantum-resistant algorithms into a range of bank operations – from securing payment transactions to protecting sensitive customer data – all running in parallel with existing cryptography​</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it-IT" sz="1600">
                <a:solidFill>
                  <a:schemeClr val="dk1"/>
                </a:solidFill>
                <a:latin typeface="Arial"/>
                <a:ea typeface="Arial"/>
                <a:cs typeface="Arial"/>
                <a:sym typeface="Arial"/>
              </a:rPr>
              <a:t>Sabadell’s CISO noted the project allowed the bank to assess the impact of adopting PQC technologies on its infrastructure, demonstrating that quantum-safe encryption can be implemented efficiently even in complex, large-scale financial IT environments​t</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it-IT" sz="1600">
                <a:solidFill>
                  <a:schemeClr val="dk1"/>
                </a:solidFill>
                <a:latin typeface="Arial"/>
                <a:ea typeface="Arial"/>
                <a:cs typeface="Arial"/>
                <a:sym typeface="Arial"/>
              </a:rPr>
              <a:t>This pilot is seen as a blueprint for other banks, showing how encryption agility can future-proof financial data against quantum attacks​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Healthcare Sector</a:t>
            </a:r>
            <a:endParaRPr sz="2800">
              <a:latin typeface="Arial"/>
              <a:ea typeface="Arial"/>
              <a:cs typeface="Arial"/>
              <a:sym typeface="Arial"/>
            </a:endParaRPr>
          </a:p>
        </p:txBody>
      </p:sp>
      <p:sp>
        <p:nvSpPr>
          <p:cNvPr id="174" name="Google Shape;174;p12"/>
          <p:cNvSpPr txBox="1"/>
          <p:nvPr>
            <p:ph idx="1" type="body"/>
          </p:nvPr>
        </p:nvSpPr>
        <p:spPr>
          <a:xfrm>
            <a:off x="838200" y="1437698"/>
            <a:ext cx="10979727" cy="959139"/>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it-IT" sz="1600">
                <a:latin typeface="Arial"/>
                <a:ea typeface="Arial"/>
                <a:cs typeface="Arial"/>
                <a:sym typeface="Arial"/>
              </a:rPr>
              <a:t>Healthcare organizations are beginning to implement PQC to safeguard medical records, clinical data, and device communications, which often need to remain confidential for the lifetime of a patient.</a:t>
            </a:r>
            <a:endParaRPr/>
          </a:p>
          <a:p>
            <a:pPr indent="0" lvl="0" marL="0" rtl="0" algn="l">
              <a:lnSpc>
                <a:spcPct val="90000"/>
              </a:lnSpc>
              <a:spcBef>
                <a:spcPts val="1000"/>
              </a:spcBef>
              <a:spcAft>
                <a:spcPts val="0"/>
              </a:spcAft>
              <a:buClr>
                <a:schemeClr val="dk1"/>
              </a:buClr>
              <a:buSzPct val="100000"/>
              <a:buNone/>
            </a:pPr>
            <a:r>
              <a:rPr lang="it-IT" sz="1600">
                <a:latin typeface="Arial"/>
                <a:ea typeface="Arial"/>
                <a:cs typeface="Arial"/>
                <a:sym typeface="Arial"/>
              </a:rPr>
              <a:t>Given the high value of healthcare data and the “harvest now, decrypt later” threat, quantum-resistant encryption is becoming a critical imperative</a:t>
            </a:r>
            <a:endParaRPr/>
          </a:p>
          <a:p>
            <a:pPr indent="0" lvl="0" marL="0" rtl="0" algn="l">
              <a:lnSpc>
                <a:spcPct val="90000"/>
              </a:lnSpc>
              <a:spcBef>
                <a:spcPts val="1000"/>
              </a:spcBef>
              <a:spcAft>
                <a:spcPts val="0"/>
              </a:spcAft>
              <a:buClr>
                <a:schemeClr val="dk1"/>
              </a:buClr>
              <a:buSzPct val="100000"/>
              <a:buNone/>
            </a:pPr>
            <a:r>
              <a:t/>
            </a:r>
            <a:endParaRPr sz="1600">
              <a:latin typeface="Arial"/>
              <a:ea typeface="Arial"/>
              <a:cs typeface="Arial"/>
              <a:sym typeface="Arial"/>
            </a:endParaRPr>
          </a:p>
        </p:txBody>
      </p:sp>
      <p:sp>
        <p:nvSpPr>
          <p:cNvPr id="175" name="Google Shape;175;p12"/>
          <p:cNvSpPr txBox="1"/>
          <p:nvPr/>
        </p:nvSpPr>
        <p:spPr>
          <a:xfrm>
            <a:off x="838200" y="2461002"/>
            <a:ext cx="10598728" cy="403187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1600">
                <a:solidFill>
                  <a:schemeClr val="dk1"/>
                </a:solidFill>
                <a:latin typeface="Arial"/>
                <a:ea typeface="Arial"/>
                <a:cs typeface="Arial"/>
                <a:sym typeface="Arial"/>
              </a:rPr>
              <a:t>Otio (Healthcare SaaS Data Security) </a:t>
            </a:r>
            <a:r>
              <a:rPr lang="it-IT" sz="1600">
                <a:solidFill>
                  <a:schemeClr val="dk1"/>
                </a:solidFill>
                <a:latin typeface="Arial"/>
                <a:ea typeface="Arial"/>
                <a:cs typeface="Arial"/>
                <a:sym typeface="Arial"/>
              </a:rPr>
              <a:t>– Otio, a digital healthcare software provider, is an early adopter of PQC to protect patient data. Anticipating quantum risks, Otio partnered with QuSecure to deploy “QuProtect,” a post-quantum cryptography solution, across its platform​</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it-IT" sz="1600">
                <a:solidFill>
                  <a:schemeClr val="dk1"/>
                </a:solidFill>
                <a:latin typeface="Arial"/>
                <a:ea typeface="Arial"/>
                <a:cs typeface="Arial"/>
                <a:sym typeface="Arial"/>
              </a:rPr>
              <a:t>This implementation enabled Otio to secure data in transit between healthcare applications and cloud servers using PQC algorithms, without requiring any changes to the existing applications or workflow</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it-IT" sz="1600">
                <a:solidFill>
                  <a:schemeClr val="dk1"/>
                </a:solidFill>
                <a:latin typeface="Arial"/>
                <a:ea typeface="Arial"/>
                <a:cs typeface="Arial"/>
                <a:sym typeface="Arial"/>
              </a:rPr>
              <a:t>In practice, QuProtect acts as a crypto-agile layer, seamlessly inserting lattice-based encryption and quantum-safe key exchanges into Otio’s data streams. The result is end-to-end quantum-resilient protection for sensitive health information (e.g. patient records, diagnostics data) as it flows through APIs and networks.</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it-IT" sz="1600">
                <a:solidFill>
                  <a:schemeClr val="dk1"/>
                </a:solidFill>
                <a:latin typeface="Arial"/>
                <a:ea typeface="Arial"/>
                <a:cs typeface="Arial"/>
                <a:sym typeface="Arial"/>
              </a:rPr>
              <a:t>Otio’s successful rollout of quantum-resistant encryption has set a benchmark for healthcare data security, proving that complex health IT systems can be retrofitted with PQC in a non-disruptive way​</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it-IT" sz="1600">
                <a:solidFill>
                  <a:schemeClr val="dk1"/>
                </a:solidFill>
                <a:latin typeface="Arial"/>
                <a:ea typeface="Arial"/>
                <a:cs typeface="Arial"/>
                <a:sym typeface="Arial"/>
              </a:rPr>
              <a:t>This proactive move not only secures their clients’ data against future decryption attempts, but also positions Otio as a leader in safeguarding healthcare PII in the quantum age​</a:t>
            </a:r>
            <a:endParaRPr sz="160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Internet of Things (IoT)</a:t>
            </a:r>
            <a:endParaRPr sz="2800">
              <a:latin typeface="Arial"/>
              <a:ea typeface="Arial"/>
              <a:cs typeface="Arial"/>
              <a:sym typeface="Arial"/>
            </a:endParaRPr>
          </a:p>
        </p:txBody>
      </p:sp>
      <p:sp>
        <p:nvSpPr>
          <p:cNvPr id="181" name="Google Shape;181;p13"/>
          <p:cNvSpPr txBox="1"/>
          <p:nvPr>
            <p:ph idx="1" type="body"/>
          </p:nvPr>
        </p:nvSpPr>
        <p:spPr>
          <a:xfrm>
            <a:off x="838200" y="1315028"/>
            <a:ext cx="10515600" cy="75132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600"/>
              <a:buNone/>
            </a:pPr>
            <a:r>
              <a:rPr lang="it-IT" sz="1600">
                <a:latin typeface="Arial"/>
                <a:ea typeface="Arial"/>
                <a:cs typeface="Arial"/>
                <a:sym typeface="Arial"/>
              </a:rPr>
              <a:t>The IoT ecosystem – from smart devices to 5G networks – faces unique challenges in adopting PQC due to device constraints and scale. Nevertheless, several pioneering projects have implemented PQC to safeguard IoT data and communications</a:t>
            </a:r>
            <a:endParaRPr/>
          </a:p>
          <a:p>
            <a:pPr indent="0" lvl="0" marL="0" rtl="0" algn="l">
              <a:lnSpc>
                <a:spcPct val="90000"/>
              </a:lnSpc>
              <a:spcBef>
                <a:spcPts val="1000"/>
              </a:spcBef>
              <a:spcAft>
                <a:spcPts val="0"/>
              </a:spcAft>
              <a:buClr>
                <a:schemeClr val="dk1"/>
              </a:buClr>
              <a:buSzPts val="1600"/>
              <a:buNone/>
            </a:pPr>
            <a:r>
              <a:t/>
            </a:r>
            <a:endParaRPr sz="1600">
              <a:latin typeface="Arial"/>
              <a:ea typeface="Arial"/>
              <a:cs typeface="Arial"/>
              <a:sym typeface="Arial"/>
            </a:endParaRPr>
          </a:p>
        </p:txBody>
      </p:sp>
      <p:sp>
        <p:nvSpPr>
          <p:cNvPr id="182" name="Google Shape;182;p13"/>
          <p:cNvSpPr txBox="1"/>
          <p:nvPr/>
        </p:nvSpPr>
        <p:spPr>
          <a:xfrm>
            <a:off x="838199" y="2066348"/>
            <a:ext cx="10979727" cy="46474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1400">
                <a:solidFill>
                  <a:schemeClr val="dk1"/>
                </a:solidFill>
                <a:latin typeface="Arial"/>
                <a:ea typeface="Arial"/>
                <a:cs typeface="Arial"/>
                <a:sym typeface="Arial"/>
              </a:rPr>
              <a:t>A) SoftBank (Telecom/IoT Networks) </a:t>
            </a:r>
            <a:r>
              <a:rPr lang="it-IT" sz="1400">
                <a:solidFill>
                  <a:schemeClr val="dk1"/>
                </a:solidFill>
                <a:latin typeface="Arial"/>
                <a:ea typeface="Arial"/>
                <a:cs typeface="Arial"/>
                <a:sym typeface="Arial"/>
              </a:rPr>
              <a:t>– SoftBank Corp. in Japan partnered with SandboxAQ to pilot PQC in its telecommunications infrastructure. Engineers stress-tested various communication channels (web traffic, media streaming, etc.) using NIST’s new PQC algorithms to evaluate performance impact​</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it-IT" sz="1400">
                <a:solidFill>
                  <a:schemeClr val="dk1"/>
                </a:solidFill>
                <a:latin typeface="Arial"/>
                <a:ea typeface="Arial"/>
                <a:cs typeface="Arial"/>
                <a:sym typeface="Arial"/>
              </a:rPr>
              <a:t>By comparing current elliptic-curve encryption against lattice-based quantum-resistant protocols (e.g. NIST-approved algorithms), SoftBank determined it could integrate PQC into existing mobile and IoT networks without sacrificing performance​</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After months of testing (measuring latency, connection rates, CPU/memory use), the team proved their network could handle a migration to PQC, informing SoftBank’s strategy to protect billions of connected devices against future quantum attacks​</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it-IT" sz="1400">
                <a:solidFill>
                  <a:schemeClr val="dk1"/>
                </a:solidFill>
                <a:latin typeface="Arial"/>
                <a:ea typeface="Arial"/>
                <a:cs typeface="Arial"/>
                <a:sym typeface="Arial"/>
              </a:rPr>
              <a:t>B) Telefónica &amp; Halotech (Quantum-Encrypted IoT Devices) </a:t>
            </a:r>
            <a:r>
              <a:rPr lang="it-IT" sz="1400">
                <a:solidFill>
                  <a:schemeClr val="dk1"/>
                </a:solidFill>
                <a:latin typeface="Arial"/>
                <a:ea typeface="Arial"/>
                <a:cs typeface="Arial"/>
                <a:sym typeface="Arial"/>
              </a:rPr>
              <a:t>– In October 2024, Telefónica Tech and Halotech Digital Services introduced “TU Quantum Encryption,” an IoT connectivity solution with built-in PQC. The system was showcased using Halotech’s Halo smart safety devices (helmets and bracelets equipped with sensors and SOS alerts) which connect via low-power NB-IoT/LTE-M network</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it-IT" sz="1400">
                <a:solidFill>
                  <a:schemeClr val="dk1"/>
                </a:solidFill>
                <a:latin typeface="Arial"/>
                <a:ea typeface="Arial"/>
                <a:cs typeface="Arial"/>
                <a:sym typeface="Arial"/>
              </a:rPr>
              <a:t>By integrating post-quantum encryption through Telefónica’s Kite IoT platform, the devices gained an extra layer of security to protect critical telemetry data (location, environmental sensor readings) against future quantum decryption attempts​</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it-IT" sz="1400">
                <a:solidFill>
                  <a:schemeClr val="dk1"/>
                </a:solidFill>
                <a:latin typeface="Arial"/>
                <a:ea typeface="Arial"/>
                <a:cs typeface="Arial"/>
                <a:sym typeface="Arial"/>
              </a:rPr>
              <a:t>This quantum-ready communication ensures that even in safety-critical environments (mining, industrial, healthcare settings), IoT data can be transmitted securely over 5G/LPWAN with quantum-resistant protection​</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4"/>
          <p:cNvSpPr txBox="1"/>
          <p:nvPr>
            <p:ph type="title"/>
          </p:nvPr>
        </p:nvSpPr>
        <p:spPr>
          <a:xfrm>
            <a:off x="838200" y="129598"/>
            <a:ext cx="10515600" cy="86792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Challenges in Adopting PQC in These Industries</a:t>
            </a:r>
            <a:endParaRPr sz="2800">
              <a:latin typeface="Arial"/>
              <a:ea typeface="Arial"/>
              <a:cs typeface="Arial"/>
              <a:sym typeface="Arial"/>
            </a:endParaRPr>
          </a:p>
        </p:txBody>
      </p:sp>
      <p:sp>
        <p:nvSpPr>
          <p:cNvPr id="188" name="Google Shape;188;p14"/>
          <p:cNvSpPr txBox="1"/>
          <p:nvPr>
            <p:ph idx="1" type="body"/>
          </p:nvPr>
        </p:nvSpPr>
        <p:spPr>
          <a:xfrm>
            <a:off x="838200" y="997527"/>
            <a:ext cx="10515600" cy="57308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b="1" lang="it-IT" sz="1800">
                <a:latin typeface="Arial"/>
                <a:ea typeface="Arial"/>
                <a:cs typeface="Arial"/>
                <a:sym typeface="Arial"/>
              </a:rPr>
              <a:t>Technical hurdles</a:t>
            </a:r>
            <a:endParaRPr/>
          </a:p>
          <a:p>
            <a:pPr indent="0" lvl="0" marL="0" rtl="0" algn="l">
              <a:lnSpc>
                <a:spcPct val="90000"/>
              </a:lnSpc>
              <a:spcBef>
                <a:spcPts val="1000"/>
              </a:spcBef>
              <a:spcAft>
                <a:spcPts val="0"/>
              </a:spcAft>
              <a:buClr>
                <a:schemeClr val="dk1"/>
              </a:buClr>
              <a:buSzPts val="1400"/>
              <a:buNone/>
            </a:pPr>
            <a:r>
              <a:rPr lang="it-IT" sz="1400" u="sng">
                <a:latin typeface="Arial"/>
                <a:ea typeface="Arial"/>
                <a:cs typeface="Arial"/>
                <a:sym typeface="Arial"/>
              </a:rPr>
              <a:t>IoT: Resource Constraints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Challenge: IoT devices (e.g., smart sensors, thermostats) are low-power, with limited memory and processing microcontrollers, RAM). PQC algorithms like Kyber use larger keys (1 KB) and signatures (2-4 KB for Dilithium) compared to RSA (~256 bytes), straining device capabilities.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Impact: Slow encryption, higher energy use, or incompatibility with existing protocols (e.g., MQTT, CoAP).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Example: A smart lock using AES-128 struggles to adopt Kyber without a hardware upgrade.</a:t>
            </a:r>
            <a:endParaRPr/>
          </a:p>
          <a:p>
            <a:pPr indent="0" lvl="0" marL="0" rtl="0" algn="l">
              <a:lnSpc>
                <a:spcPct val="90000"/>
              </a:lnSpc>
              <a:spcBef>
                <a:spcPts val="1000"/>
              </a:spcBef>
              <a:spcAft>
                <a:spcPts val="0"/>
              </a:spcAft>
              <a:buClr>
                <a:schemeClr val="dk1"/>
              </a:buClr>
              <a:buSzPts val="1400"/>
              <a:buNone/>
            </a:pPr>
            <a:r>
              <a:t/>
            </a:r>
            <a:endParaRPr sz="1400" u="sng">
              <a:latin typeface="Arial"/>
              <a:ea typeface="Arial"/>
              <a:cs typeface="Arial"/>
              <a:sym typeface="Arial"/>
            </a:endParaRPr>
          </a:p>
          <a:p>
            <a:pPr indent="0" lvl="0" marL="0" rtl="0" algn="l">
              <a:lnSpc>
                <a:spcPct val="90000"/>
              </a:lnSpc>
              <a:spcBef>
                <a:spcPts val="1000"/>
              </a:spcBef>
              <a:spcAft>
                <a:spcPts val="0"/>
              </a:spcAft>
              <a:buClr>
                <a:schemeClr val="dk1"/>
              </a:buClr>
              <a:buSzPts val="1400"/>
              <a:buNone/>
            </a:pPr>
            <a:r>
              <a:rPr lang="it-IT" sz="1400" u="sng">
                <a:latin typeface="Arial"/>
                <a:ea typeface="Arial"/>
                <a:cs typeface="Arial"/>
                <a:sym typeface="Arial"/>
              </a:rPr>
              <a:t>Healthcare: Integration with Legacy Systems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Challenge: Medical devices (e.g., pacemakers, EHR systems) and hospital networks often run outdated software (e.g., Windows XP) or proprietary protocols, incompatible with PQC’s larger key sizes and new libraries (e.g., OpenQuantumSafe).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Impact: Retrofitting is costly and risks disrupting patient care; hybrid approaches (classical + PQC) add complexity.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Example: An ECG monitor using ECC can’t switch to Dilithium without firmware updates, risking downtime.</a:t>
            </a:r>
            <a:endParaRPr/>
          </a:p>
          <a:p>
            <a:pPr indent="0" lvl="0" marL="0" rtl="0" algn="l">
              <a:lnSpc>
                <a:spcPct val="90000"/>
              </a:lnSpc>
              <a:spcBef>
                <a:spcPts val="1000"/>
              </a:spcBef>
              <a:spcAft>
                <a:spcPts val="0"/>
              </a:spcAft>
              <a:buClr>
                <a:schemeClr val="dk1"/>
              </a:buClr>
              <a:buSzPts val="1400"/>
              <a:buNone/>
            </a:pPr>
            <a:r>
              <a:t/>
            </a:r>
            <a:endParaRPr sz="1400">
              <a:latin typeface="Arial"/>
              <a:ea typeface="Arial"/>
              <a:cs typeface="Arial"/>
              <a:sym typeface="Arial"/>
            </a:endParaRPr>
          </a:p>
          <a:p>
            <a:pPr indent="0" lvl="0" marL="0" rtl="0" algn="l">
              <a:lnSpc>
                <a:spcPct val="90000"/>
              </a:lnSpc>
              <a:spcBef>
                <a:spcPts val="1000"/>
              </a:spcBef>
              <a:spcAft>
                <a:spcPts val="0"/>
              </a:spcAft>
              <a:buClr>
                <a:schemeClr val="dk1"/>
              </a:buClr>
              <a:buSzPts val="1400"/>
              <a:buNone/>
            </a:pPr>
            <a:r>
              <a:rPr lang="it-IT" sz="1400" u="sng">
                <a:latin typeface="Arial"/>
                <a:ea typeface="Arial"/>
                <a:cs typeface="Arial"/>
                <a:sym typeface="Arial"/>
              </a:rPr>
              <a:t>Finance: Performance and Scalability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Challenge: Financial systems (e.g., HFT platforms, blockchain) demand high-speed transactions. PQC algorithms, while efficient (e.g., Kyber’s speed), are slower than RSA/ECC due to larger computations and key sizes, potentially delaying trades or increasing latency.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Impact: Balancing security with millisecond-level performance is tough; infrastructure upgrades (e.g., HSMs) are needed.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Example: A stock exchange using RSA for TLS handshakes faces slowdowns with Kyber, affecting trade volume.</a:t>
            </a:r>
            <a:endParaRPr/>
          </a:p>
          <a:p>
            <a:pPr indent="0" lvl="0" marL="0" rtl="0" algn="l">
              <a:lnSpc>
                <a:spcPct val="90000"/>
              </a:lnSpc>
              <a:spcBef>
                <a:spcPts val="1000"/>
              </a:spcBef>
              <a:spcAft>
                <a:spcPts val="0"/>
              </a:spcAft>
              <a:buClr>
                <a:schemeClr val="dk1"/>
              </a:buClr>
              <a:buSzPts val="2800"/>
              <a:buNone/>
            </a:pPr>
            <a:r>
              <a:t/>
            </a:r>
            <a:endParaRPr>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5"/>
          <p:cNvSpPr txBox="1"/>
          <p:nvPr>
            <p:ph type="title"/>
          </p:nvPr>
        </p:nvSpPr>
        <p:spPr>
          <a:xfrm>
            <a:off x="838200" y="110836"/>
            <a:ext cx="10515600" cy="914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Challenges in Adopting PQC in These Industries</a:t>
            </a:r>
            <a:endParaRPr sz="2800">
              <a:latin typeface="Arial"/>
              <a:ea typeface="Arial"/>
              <a:cs typeface="Arial"/>
              <a:sym typeface="Arial"/>
            </a:endParaRPr>
          </a:p>
        </p:txBody>
      </p:sp>
      <p:sp>
        <p:nvSpPr>
          <p:cNvPr id="194" name="Google Shape;194;p15"/>
          <p:cNvSpPr txBox="1"/>
          <p:nvPr>
            <p:ph idx="1" type="body"/>
          </p:nvPr>
        </p:nvSpPr>
        <p:spPr>
          <a:xfrm>
            <a:off x="838200" y="1025236"/>
            <a:ext cx="10515600" cy="541712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b="1" lang="it-IT" sz="1800">
                <a:latin typeface="Arial"/>
                <a:ea typeface="Arial"/>
                <a:cs typeface="Arial"/>
                <a:sym typeface="Arial"/>
              </a:rPr>
              <a:t>Regulatory Hurdles</a:t>
            </a:r>
            <a:endParaRPr/>
          </a:p>
          <a:p>
            <a:pPr indent="0" lvl="0" marL="0" rtl="0" algn="l">
              <a:lnSpc>
                <a:spcPct val="90000"/>
              </a:lnSpc>
              <a:spcBef>
                <a:spcPts val="1000"/>
              </a:spcBef>
              <a:spcAft>
                <a:spcPts val="0"/>
              </a:spcAft>
              <a:buClr>
                <a:schemeClr val="dk1"/>
              </a:buClr>
              <a:buSzPts val="1400"/>
              <a:buNone/>
            </a:pPr>
            <a:r>
              <a:rPr lang="it-IT" sz="1400" u="sng">
                <a:latin typeface="Arial"/>
                <a:ea typeface="Arial"/>
                <a:cs typeface="Arial"/>
                <a:sym typeface="Arial"/>
              </a:rPr>
              <a:t>IoT: Evolving Standards and Compliance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Challenge: Regulations like the EU’s Cyber Resilience Act (CRA, 2024) mandate secure IoT lifecycles but don’t yet specify PQC, leaving manufacturers uncertain. NIST’s standards are U.S.-centric; global harmonization (e.g., ETSI, ITU) lags.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Impact: OEMs delay adoption, fearing non-compliance or redesign costs if rules shift.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Example: A smart meter maker hesitates on Kyber, awaiting CRA’s quantum-safe clarity.</a:t>
            </a:r>
            <a:endParaRPr/>
          </a:p>
          <a:p>
            <a:pPr indent="0" lvl="0" marL="0" rtl="0" algn="l">
              <a:lnSpc>
                <a:spcPct val="90000"/>
              </a:lnSpc>
              <a:spcBef>
                <a:spcPts val="1000"/>
              </a:spcBef>
              <a:spcAft>
                <a:spcPts val="0"/>
              </a:spcAft>
              <a:buClr>
                <a:schemeClr val="dk1"/>
              </a:buClr>
              <a:buSzPts val="1400"/>
              <a:buNone/>
            </a:pPr>
            <a:r>
              <a:t/>
            </a:r>
            <a:endParaRPr sz="1400">
              <a:latin typeface="Arial"/>
              <a:ea typeface="Arial"/>
              <a:cs typeface="Arial"/>
              <a:sym typeface="Arial"/>
            </a:endParaRPr>
          </a:p>
          <a:p>
            <a:pPr indent="0" lvl="0" marL="0" rtl="0" algn="l">
              <a:lnSpc>
                <a:spcPct val="90000"/>
              </a:lnSpc>
              <a:spcBef>
                <a:spcPts val="1000"/>
              </a:spcBef>
              <a:spcAft>
                <a:spcPts val="0"/>
              </a:spcAft>
              <a:buClr>
                <a:schemeClr val="dk1"/>
              </a:buClr>
              <a:buSzPts val="1400"/>
              <a:buNone/>
            </a:pPr>
            <a:r>
              <a:rPr lang="it-IT" sz="1400" u="sng">
                <a:latin typeface="Arial"/>
                <a:ea typeface="Arial"/>
                <a:cs typeface="Arial"/>
                <a:sym typeface="Arial"/>
              </a:rPr>
              <a:t>Healthcare: Strict Data Protection Laws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Challenge: Laws like HIPAA (U.S.) and GDPR (EU) require long-term data protection but don’t mandate PQC yet. Transitioning risks temporary non-compliance if systems falter (e.g., during hybrid phases).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Impact: Hospitals prioritize current rules over future-proofing, slowing PQC uptake.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Example: A clinic using AES-256 delays Dilithium adoption, unsure if it meets GDPR’s “adequate protection” vague standard.</a:t>
            </a:r>
            <a:endParaRPr/>
          </a:p>
          <a:p>
            <a:pPr indent="0" lvl="0" marL="0" rtl="0" algn="l">
              <a:lnSpc>
                <a:spcPct val="90000"/>
              </a:lnSpc>
              <a:spcBef>
                <a:spcPts val="1000"/>
              </a:spcBef>
              <a:spcAft>
                <a:spcPts val="0"/>
              </a:spcAft>
              <a:buClr>
                <a:schemeClr val="dk1"/>
              </a:buClr>
              <a:buSzPts val="1400"/>
              <a:buNone/>
            </a:pPr>
            <a:r>
              <a:t/>
            </a:r>
            <a:endParaRPr sz="1400">
              <a:latin typeface="Arial"/>
              <a:ea typeface="Arial"/>
              <a:cs typeface="Arial"/>
              <a:sym typeface="Arial"/>
            </a:endParaRPr>
          </a:p>
          <a:p>
            <a:pPr indent="0" lvl="0" marL="0" rtl="0" algn="l">
              <a:lnSpc>
                <a:spcPct val="90000"/>
              </a:lnSpc>
              <a:spcBef>
                <a:spcPts val="1000"/>
              </a:spcBef>
              <a:spcAft>
                <a:spcPts val="0"/>
              </a:spcAft>
              <a:buClr>
                <a:schemeClr val="dk1"/>
              </a:buClr>
              <a:buSzPts val="1400"/>
              <a:buNone/>
            </a:pPr>
            <a:r>
              <a:rPr lang="it-IT" sz="1400" u="sng">
                <a:latin typeface="Arial"/>
                <a:ea typeface="Arial"/>
                <a:cs typeface="Arial"/>
                <a:sym typeface="Arial"/>
              </a:rPr>
              <a:t>Finance: Rapid Regulatory Push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Challenge: Bodies like the Monetary Authority of Singapore (MAS) and EU’s DORA (2025) urge quantum readiness, but timelines are tight (e.g., NIST’s 2035 goal). PCI DSS v4.0.1 demands crypto inventories, yet PQC isn’t fully specified.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Impact: Banks face pressure to act fast, risking costly missteps without clear guidance.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Example: A credit card issuer scrambles to map RSA usage for PCI compliance, unsure how Kyber fits.</a:t>
            </a:r>
            <a:endParaRPr/>
          </a:p>
          <a:p>
            <a:pPr indent="0" lvl="0" marL="0" rtl="0" algn="l">
              <a:lnSpc>
                <a:spcPct val="90000"/>
              </a:lnSpc>
              <a:spcBef>
                <a:spcPts val="1000"/>
              </a:spcBef>
              <a:spcAft>
                <a:spcPts val="0"/>
              </a:spcAft>
              <a:buClr>
                <a:schemeClr val="dk1"/>
              </a:buClr>
              <a:buSzPts val="1400"/>
              <a:buNone/>
            </a:pPr>
            <a:r>
              <a:t/>
            </a:r>
            <a:endParaRPr sz="1400">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6"/>
          <p:cNvSpPr txBox="1"/>
          <p:nvPr/>
        </p:nvSpPr>
        <p:spPr>
          <a:xfrm>
            <a:off x="1524000" y="212735"/>
            <a:ext cx="9961418" cy="60631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2800">
                <a:solidFill>
                  <a:schemeClr val="dk1"/>
                </a:solidFill>
                <a:latin typeface="Arial"/>
                <a:ea typeface="Arial"/>
                <a:cs typeface="Arial"/>
                <a:sym typeface="Arial"/>
              </a:rPr>
              <a:t>Real-World Applications Conclusion</a:t>
            </a:r>
            <a:br>
              <a:rPr lang="it-IT" sz="1800">
                <a:solidFill>
                  <a:schemeClr val="dk1"/>
                </a:solidFill>
                <a:latin typeface="Arial"/>
                <a:ea typeface="Arial"/>
                <a:cs typeface="Arial"/>
                <a:sym typeface="Arial"/>
              </a:rPr>
            </a:br>
            <a:br>
              <a:rPr lang="it-IT" sz="1800">
                <a:solidFill>
                  <a:schemeClr val="dk1"/>
                </a:solidFill>
                <a:latin typeface="Arial"/>
                <a:ea typeface="Arial"/>
                <a:cs typeface="Arial"/>
                <a:sym typeface="Arial"/>
              </a:rPr>
            </a:br>
            <a:r>
              <a:rPr lang="it-IT" sz="1800">
                <a:solidFill>
                  <a:schemeClr val="dk1"/>
                </a:solidFill>
                <a:latin typeface="Arial"/>
                <a:ea typeface="Arial"/>
                <a:cs typeface="Arial"/>
                <a:sym typeface="Arial"/>
              </a:rPr>
              <a:t>Across IoT, finance, and healthcare, real-world implementations of post-quantum cryptography are accelerating. </a:t>
            </a:r>
            <a:endParaRPr/>
          </a:p>
          <a:p>
            <a:pPr indent="0" lvl="0" marL="0" marR="0" rtl="0" algn="l">
              <a:spcBef>
                <a:spcPts val="0"/>
              </a:spcBef>
              <a:spcAft>
                <a:spcPts val="0"/>
              </a:spcAft>
              <a:buNone/>
            </a:pPr>
            <a:r>
              <a:rPr lang="it-IT" sz="1800">
                <a:solidFill>
                  <a:schemeClr val="dk1"/>
                </a:solidFill>
                <a:latin typeface="Arial"/>
                <a:ea typeface="Arial"/>
                <a:cs typeface="Arial"/>
                <a:sym typeface="Arial"/>
              </a:rPr>
              <a:t>These case studies highlight a common theme: crypto-agility and proactive upgrades are vital to stay ahead of quantum threats. Organizations are leveraging lattice-based schemes like </a:t>
            </a:r>
            <a:r>
              <a:rPr b="1" lang="it-IT" sz="1800">
                <a:solidFill>
                  <a:schemeClr val="dk1"/>
                </a:solidFill>
                <a:latin typeface="Arial"/>
                <a:ea typeface="Arial"/>
                <a:cs typeface="Arial"/>
                <a:sym typeface="Arial"/>
              </a:rPr>
              <a:t>Kyber for encryption </a:t>
            </a:r>
            <a:r>
              <a:rPr lang="it-IT" sz="1800">
                <a:solidFill>
                  <a:schemeClr val="dk1"/>
                </a:solidFill>
                <a:latin typeface="Arial"/>
                <a:ea typeface="Arial"/>
                <a:cs typeface="Arial"/>
                <a:sym typeface="Arial"/>
              </a:rPr>
              <a:t>and </a:t>
            </a:r>
            <a:r>
              <a:rPr b="1" lang="it-IT" sz="1800">
                <a:solidFill>
                  <a:schemeClr val="dk1"/>
                </a:solidFill>
                <a:latin typeface="Arial"/>
                <a:ea typeface="Arial"/>
                <a:cs typeface="Arial"/>
                <a:sym typeface="Arial"/>
              </a:rPr>
              <a:t>Dilithium for signatures</a:t>
            </a:r>
            <a:r>
              <a:rPr lang="it-IT" sz="1800">
                <a:solidFill>
                  <a:schemeClr val="dk1"/>
                </a:solidFill>
                <a:latin typeface="Arial"/>
                <a:ea typeface="Arial"/>
                <a:cs typeface="Arial"/>
                <a:sym typeface="Arial"/>
              </a:rPr>
              <a:t>, often in </a:t>
            </a:r>
            <a:r>
              <a:rPr lang="it-IT" sz="1800" u="sng">
                <a:solidFill>
                  <a:schemeClr val="dk1"/>
                </a:solidFill>
                <a:latin typeface="Arial"/>
                <a:ea typeface="Arial"/>
                <a:cs typeface="Arial"/>
                <a:sym typeface="Arial"/>
              </a:rPr>
              <a:t>hybrid combinations </a:t>
            </a:r>
            <a:r>
              <a:rPr lang="it-IT" sz="1800">
                <a:solidFill>
                  <a:schemeClr val="dk1"/>
                </a:solidFill>
                <a:latin typeface="Arial"/>
                <a:ea typeface="Arial"/>
                <a:cs typeface="Arial"/>
                <a:sym typeface="Arial"/>
              </a:rPr>
              <a:t>with classical crypto, to fortify their systems. Technical trials – from IoT device networks to banking systems – show that PQC can be deployed with minimal performance trade-offs while significantly extending the security lifetime of data and communications.</a:t>
            </a:r>
            <a:br>
              <a:rPr lang="it-IT" sz="1800">
                <a:solidFill>
                  <a:schemeClr val="dk1"/>
                </a:solidFill>
                <a:latin typeface="Arial"/>
                <a:ea typeface="Arial"/>
                <a:cs typeface="Arial"/>
                <a:sym typeface="Arial"/>
              </a:rPr>
            </a:br>
            <a:br>
              <a:rPr lang="it-IT" sz="1800">
                <a:solidFill>
                  <a:schemeClr val="dk1"/>
                </a:solidFill>
                <a:latin typeface="Arial"/>
                <a:ea typeface="Arial"/>
                <a:cs typeface="Arial"/>
                <a:sym typeface="Arial"/>
              </a:rPr>
            </a:br>
            <a:r>
              <a:rPr lang="it-IT" sz="1800">
                <a:solidFill>
                  <a:schemeClr val="dk1"/>
                </a:solidFill>
                <a:latin typeface="Arial"/>
                <a:ea typeface="Arial"/>
                <a:cs typeface="Arial"/>
                <a:sym typeface="Arial"/>
              </a:rPr>
              <a:t>Crucially, industry collaboration and standardization are emerging alongside these deployments. Initiatives such as updated EMV payment </a:t>
            </a:r>
            <a:r>
              <a:rPr lang="it-IT" sz="1600">
                <a:solidFill>
                  <a:schemeClr val="dk1"/>
                </a:solidFill>
                <a:latin typeface="Arial"/>
                <a:ea typeface="Arial"/>
                <a:cs typeface="Arial"/>
                <a:sym typeface="Arial"/>
              </a:rPr>
              <a:t>standards</a:t>
            </a:r>
            <a:r>
              <a:rPr lang="it-IT" sz="1800">
                <a:solidFill>
                  <a:schemeClr val="dk1"/>
                </a:solidFill>
                <a:latin typeface="Arial"/>
                <a:ea typeface="Arial"/>
                <a:cs typeface="Arial"/>
                <a:sym typeface="Arial"/>
              </a:rPr>
              <a:t>, telecom PQC guidelines, and sector-specific roadmaps (e.g. in finance via FS-ISAC and in healthcare via HHS guidance) are helping to align vendors and stakeholders on quantum-safe practices.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it-IT" sz="1800">
                <a:solidFill>
                  <a:schemeClr val="dk1"/>
                </a:solidFill>
                <a:latin typeface="Arial"/>
                <a:ea typeface="Arial"/>
                <a:cs typeface="Arial"/>
                <a:sym typeface="Arial"/>
              </a:rPr>
              <a:t>The advancements in securing data, transactions, and connections showcased here demonstrate that the transition to PQC is well underway. By learning from early adopters and case studies, organizations in all sectors can develop their PQC migration strategies now, ensuring that sensitive information remains protected against the coming quantum computing revolution​.</a:t>
            </a:r>
            <a:endParaRPr sz="16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7"/>
          <p:cNvSpPr txBox="1"/>
          <p:nvPr>
            <p:ph type="title"/>
          </p:nvPr>
        </p:nvSpPr>
        <p:spPr>
          <a:xfrm>
            <a:off x="838199" y="365124"/>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Overview of PQC Tools</a:t>
            </a:r>
            <a:endParaRPr sz="2800">
              <a:latin typeface="Arial"/>
              <a:ea typeface="Arial"/>
              <a:cs typeface="Arial"/>
              <a:sym typeface="Arial"/>
            </a:endParaRPr>
          </a:p>
        </p:txBody>
      </p:sp>
      <p:sp>
        <p:nvSpPr>
          <p:cNvPr id="205" name="Google Shape;205;p17"/>
          <p:cNvSpPr txBox="1"/>
          <p:nvPr>
            <p:ph idx="1" type="body"/>
          </p:nvPr>
        </p:nvSpPr>
        <p:spPr>
          <a:xfrm>
            <a:off x="838200" y="1354571"/>
            <a:ext cx="10515600" cy="513830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0000"/>
              </a:buClr>
              <a:buSzPts val="1800"/>
              <a:buNone/>
            </a:pPr>
            <a:r>
              <a:rPr b="1" i="0" lang="it-IT" sz="1800" u="none" strike="noStrike">
                <a:solidFill>
                  <a:srgbClr val="000000"/>
                </a:solidFill>
                <a:latin typeface="Arial"/>
                <a:ea typeface="Arial"/>
                <a:cs typeface="Arial"/>
                <a:sym typeface="Arial"/>
              </a:rPr>
              <a:t>Big Tech Providers</a:t>
            </a:r>
            <a:endParaRPr b="1" sz="1800">
              <a:latin typeface="Arial"/>
              <a:ea typeface="Arial"/>
              <a:cs typeface="Arial"/>
              <a:sym typeface="Arial"/>
            </a:endParaRPr>
          </a:p>
        </p:txBody>
      </p:sp>
      <p:graphicFrame>
        <p:nvGraphicFramePr>
          <p:cNvPr id="206" name="Google Shape;206;p17"/>
          <p:cNvGraphicFramePr/>
          <p:nvPr/>
        </p:nvGraphicFramePr>
        <p:xfrm>
          <a:off x="838199" y="1992304"/>
          <a:ext cx="11177588" cy="2873391"/>
        </p:xfrm>
        <a:graphic>
          <a:graphicData uri="http://schemas.openxmlformats.org/presentationml/2006/ole">
            <mc:AlternateContent>
              <mc:Choice Requires="v">
                <p:oleObj r:id="rId4" imgH="2873391" imgW="11177588" progId="Excel.Sheet.12" spid="_x0000_s1">
                  <p:embed/>
                </p:oleObj>
              </mc:Choice>
              <mc:Fallback>
                <p:oleObj r:id="rId5" imgH="2873391" imgW="11177588" progId="Excel.Sheet.12">
                  <p:embed/>
                  <p:pic>
                    <p:nvPicPr>
                      <p:cNvPr id="206" name="Google Shape;206;p17"/>
                      <p:cNvPicPr preferRelativeResize="0"/>
                      <p:nvPr/>
                    </p:nvPicPr>
                    <p:blipFill rotWithShape="1">
                      <a:blip r:embed="rId6">
                        <a:alphaModFix/>
                      </a:blip>
                      <a:srcRect b="0" l="0" r="0" t="0"/>
                      <a:stretch/>
                    </p:blipFill>
                    <p:spPr>
                      <a:xfrm>
                        <a:off x="838199" y="1992304"/>
                        <a:ext cx="11177588" cy="2873391"/>
                      </a:xfrm>
                      <a:prstGeom prst="rect">
                        <a:avLst/>
                      </a:prstGeom>
                      <a:noFill/>
                      <a:ln>
                        <a:noFill/>
                      </a:ln>
                    </p:spPr>
                  </p:pic>
                </p:oleObj>
              </mc:Fallback>
            </mc:AlternateContent>
          </a:graphicData>
        </a:graphic>
      </p:graphicFrame>
      <p:pic>
        <p:nvPicPr>
          <p:cNvPr id="207" name="Google Shape;207;p17"/>
          <p:cNvPicPr preferRelativeResize="0"/>
          <p:nvPr/>
        </p:nvPicPr>
        <p:blipFill rotWithShape="1">
          <a:blip r:embed="rId7">
            <a:alphaModFix/>
          </a:blip>
          <a:srcRect b="0" l="0" r="0" t="0"/>
          <a:stretch/>
        </p:blipFill>
        <p:spPr>
          <a:xfrm>
            <a:off x="838198" y="2376911"/>
            <a:ext cx="657317" cy="447737"/>
          </a:xfrm>
          <a:prstGeom prst="rect">
            <a:avLst/>
          </a:prstGeom>
          <a:noFill/>
          <a:ln>
            <a:noFill/>
          </a:ln>
        </p:spPr>
      </p:pic>
      <p:pic>
        <p:nvPicPr>
          <p:cNvPr id="208" name="Google Shape;208;p17"/>
          <p:cNvPicPr preferRelativeResize="0"/>
          <p:nvPr/>
        </p:nvPicPr>
        <p:blipFill rotWithShape="1">
          <a:blip r:embed="rId8">
            <a:alphaModFix/>
          </a:blip>
          <a:srcRect b="0" l="0" r="0" t="0"/>
          <a:stretch/>
        </p:blipFill>
        <p:spPr>
          <a:xfrm>
            <a:off x="849674" y="3250924"/>
            <a:ext cx="1172885" cy="245310"/>
          </a:xfrm>
          <a:prstGeom prst="rect">
            <a:avLst/>
          </a:prstGeom>
          <a:noFill/>
          <a:ln>
            <a:noFill/>
          </a:ln>
        </p:spPr>
      </p:pic>
      <p:pic>
        <p:nvPicPr>
          <p:cNvPr id="209" name="Google Shape;209;p17"/>
          <p:cNvPicPr preferRelativeResize="0"/>
          <p:nvPr/>
        </p:nvPicPr>
        <p:blipFill rotWithShape="1">
          <a:blip r:embed="rId9">
            <a:alphaModFix/>
          </a:blip>
          <a:srcRect b="0" l="0" r="0" t="0"/>
          <a:stretch/>
        </p:blipFill>
        <p:spPr>
          <a:xfrm>
            <a:off x="849674" y="4083268"/>
            <a:ext cx="762106" cy="30484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Overview of PQC Tools</a:t>
            </a:r>
            <a:endParaRPr sz="2800">
              <a:latin typeface="Arial"/>
              <a:ea typeface="Arial"/>
              <a:cs typeface="Arial"/>
              <a:sym typeface="Arial"/>
            </a:endParaRPr>
          </a:p>
        </p:txBody>
      </p:sp>
      <p:sp>
        <p:nvSpPr>
          <p:cNvPr id="215" name="Google Shape;215;p18"/>
          <p:cNvSpPr txBox="1"/>
          <p:nvPr>
            <p:ph idx="1" type="body"/>
          </p:nvPr>
        </p:nvSpPr>
        <p:spPr>
          <a:xfrm>
            <a:off x="838200" y="1354571"/>
            <a:ext cx="10515600" cy="513830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it-IT" sz="1800">
                <a:latin typeface="Arial"/>
                <a:ea typeface="Arial"/>
                <a:cs typeface="Arial"/>
                <a:sym typeface="Arial"/>
              </a:rPr>
              <a:t>Open Source</a:t>
            </a:r>
            <a:endParaRPr/>
          </a:p>
        </p:txBody>
      </p:sp>
      <p:graphicFrame>
        <p:nvGraphicFramePr>
          <p:cNvPr id="216" name="Google Shape;216;p18"/>
          <p:cNvGraphicFramePr/>
          <p:nvPr/>
        </p:nvGraphicFramePr>
        <p:xfrm>
          <a:off x="949037" y="1876786"/>
          <a:ext cx="10950012" cy="4093874"/>
        </p:xfrm>
        <a:graphic>
          <a:graphicData uri="http://schemas.openxmlformats.org/presentationml/2006/ole">
            <mc:AlternateContent>
              <mc:Choice Requires="v">
                <p:oleObj r:id="rId4" imgH="4093874" imgW="10950012" progId="Excel.Sheet.12" spid="_x0000_s1">
                  <p:embed/>
                </p:oleObj>
              </mc:Choice>
              <mc:Fallback>
                <p:oleObj r:id="rId5" imgH="4093874" imgW="10950012" progId="Excel.Sheet.12">
                  <p:embed/>
                  <p:pic>
                    <p:nvPicPr>
                      <p:cNvPr id="216" name="Google Shape;216;p18"/>
                      <p:cNvPicPr preferRelativeResize="0"/>
                      <p:nvPr/>
                    </p:nvPicPr>
                    <p:blipFill rotWithShape="1">
                      <a:blip r:embed="rId6">
                        <a:alphaModFix/>
                      </a:blip>
                      <a:srcRect b="0" l="0" r="0" t="0"/>
                      <a:stretch/>
                    </p:blipFill>
                    <p:spPr>
                      <a:xfrm>
                        <a:off x="949037" y="1876786"/>
                        <a:ext cx="10950012" cy="4093874"/>
                      </a:xfrm>
                      <a:prstGeom prst="rect">
                        <a:avLst/>
                      </a:prstGeom>
                      <a:noFill/>
                      <a:ln>
                        <a:noFill/>
                      </a:ln>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9"/>
          <p:cNvSpPr txBox="1"/>
          <p:nvPr>
            <p:ph type="title"/>
          </p:nvPr>
        </p:nvSpPr>
        <p:spPr>
          <a:xfrm>
            <a:off x="838200" y="0"/>
            <a:ext cx="10515600" cy="77585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Hands-On Implementation Guide (Part 1)</a:t>
            </a:r>
            <a:endParaRPr sz="2800">
              <a:latin typeface="Arial"/>
              <a:ea typeface="Arial"/>
              <a:cs typeface="Arial"/>
              <a:sym typeface="Arial"/>
            </a:endParaRPr>
          </a:p>
        </p:txBody>
      </p:sp>
      <p:sp>
        <p:nvSpPr>
          <p:cNvPr id="222" name="Google Shape;222;p19"/>
          <p:cNvSpPr txBox="1"/>
          <p:nvPr>
            <p:ph idx="1" type="body"/>
          </p:nvPr>
        </p:nvSpPr>
        <p:spPr>
          <a:xfrm>
            <a:off x="838200" y="695938"/>
            <a:ext cx="10515600" cy="606508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b="1" lang="it-IT" sz="1800">
                <a:latin typeface="Arial"/>
                <a:ea typeface="Arial"/>
                <a:cs typeface="Arial"/>
                <a:sym typeface="Arial"/>
              </a:rPr>
              <a:t>How to integrate PQC in TLS 1.3</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TLS 1.3 secures the web with ECDH and ECDSA—quantum-weak. PQC swaps these for Kyber (key exchange) and Dilithium (signatures), keeping AES-256 for data (upsized vs. Grover’s).</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Hybrid setups (ECDH + Kyber) ease transition. Update OpenSSL, issue PQC certs, and test—e.g., a bank site stays quantum-safe.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Challenges: bigger keys (~1 KB) slow things; old clients balk. By March 2025, prototypes (e.g., OQS) lead the way.</a:t>
            </a:r>
            <a:endParaRPr/>
          </a:p>
          <a:p>
            <a:pPr indent="0" lvl="0" marL="0" rtl="0" algn="l">
              <a:lnSpc>
                <a:spcPct val="90000"/>
              </a:lnSpc>
              <a:spcBef>
                <a:spcPts val="1000"/>
              </a:spcBef>
              <a:spcAft>
                <a:spcPts val="0"/>
              </a:spcAft>
              <a:buClr>
                <a:schemeClr val="dk1"/>
              </a:buClr>
              <a:buSzPts val="1400"/>
              <a:buNone/>
            </a:pPr>
            <a:r>
              <a:t/>
            </a:r>
            <a:endParaRPr sz="1400">
              <a:latin typeface="Arial"/>
              <a:ea typeface="Arial"/>
              <a:cs typeface="Arial"/>
              <a:sym typeface="Arial"/>
            </a:endParaRPr>
          </a:p>
          <a:p>
            <a:pPr indent="0" lvl="0" marL="0" rtl="0" algn="l">
              <a:lnSpc>
                <a:spcPct val="90000"/>
              </a:lnSpc>
              <a:spcBef>
                <a:spcPts val="1000"/>
              </a:spcBef>
              <a:spcAft>
                <a:spcPts val="0"/>
              </a:spcAft>
              <a:buClr>
                <a:schemeClr val="dk1"/>
              </a:buClr>
              <a:buSzPts val="1400"/>
              <a:buNone/>
            </a:pPr>
            <a:r>
              <a:rPr lang="it-IT" sz="1400" u="sng">
                <a:latin typeface="Arial"/>
                <a:ea typeface="Arial"/>
                <a:cs typeface="Arial"/>
                <a:sym typeface="Arial"/>
              </a:rPr>
              <a:t>1. Replace Key Exchange with PQC KEMs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Current: TLS 1.3 uses Diffie-Hellman (DH) or ECDH for key exchange—Alice and Bob share a secret over an insecure channel. Shor’s cracks these.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PQC Approach: Use a Key Encapsulation Mechanism (KEM) like CRYSTALS-Kyber (FIPS 203, ML-KEM):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Server sends a Kyber public key.</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Client encapsulates a random secret with it, sending the ciphertext.</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Server decapsulates using its private key, deriving the shared secret.</a:t>
            </a:r>
            <a:endParaRPr/>
          </a:p>
          <a:p>
            <a:pPr indent="0" lvl="0" marL="0" rtl="0" algn="l">
              <a:lnSpc>
                <a:spcPct val="90000"/>
              </a:lnSpc>
              <a:spcBef>
                <a:spcPts val="1000"/>
              </a:spcBef>
              <a:spcAft>
                <a:spcPts val="0"/>
              </a:spcAft>
              <a:buClr>
                <a:schemeClr val="dk1"/>
              </a:buClr>
              <a:buSzPts val="1400"/>
              <a:buNone/>
            </a:pPr>
            <a:r>
              <a:rPr lang="it-IT" sz="1400" u="sng">
                <a:latin typeface="Arial"/>
                <a:ea typeface="Arial"/>
                <a:cs typeface="Arial"/>
                <a:sym typeface="Arial"/>
              </a:rPr>
              <a:t>2. Update Digital Signatures with PQC Algorithms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Current: Certificates are signed with RSA, ECDSA, or EdDSA—Shor’s breaks these.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PQC Approach: Use CRYSTALS-Dilithium (FIPS 204, ML-DSA) or SPHINCS+ (FIPS 205, SLH-DSA):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Certificate authorities (CAs) issue X.509 certificates signed with Dilithium.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Server signs handshake messages (e.g., CertificateVerify) with its Dilithium private key.</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Client verifies with the public key.</a:t>
            </a:r>
            <a:endParaRPr/>
          </a:p>
          <a:p>
            <a:pPr indent="0" lvl="0" marL="0" rtl="0" algn="l">
              <a:lnSpc>
                <a:spcPct val="90000"/>
              </a:lnSpc>
              <a:spcBef>
                <a:spcPts val="1000"/>
              </a:spcBef>
              <a:spcAft>
                <a:spcPts val="0"/>
              </a:spcAft>
              <a:buClr>
                <a:srgbClr val="000000"/>
              </a:buClr>
              <a:buSzPts val="1400"/>
              <a:buNone/>
            </a:pPr>
            <a:r>
              <a:rPr lang="it-IT" sz="1400" u="sng">
                <a:solidFill>
                  <a:srgbClr val="000000"/>
                </a:solidFill>
                <a:latin typeface="Arial"/>
                <a:ea typeface="Arial"/>
                <a:cs typeface="Arial"/>
                <a:sym typeface="Arial"/>
              </a:rPr>
              <a:t>3. Keep Symmetric Encryption (with Adjustments) </a:t>
            </a:r>
            <a:endParaRPr/>
          </a:p>
          <a:p>
            <a:pPr indent="0" lvl="0" marL="0" rtl="0" algn="l">
              <a:lnSpc>
                <a:spcPct val="90000"/>
              </a:lnSpc>
              <a:spcBef>
                <a:spcPts val="1000"/>
              </a:spcBef>
              <a:spcAft>
                <a:spcPts val="0"/>
              </a:spcAft>
              <a:buClr>
                <a:schemeClr val="dk1"/>
              </a:buClr>
              <a:buSzPts val="1400"/>
              <a:buNone/>
            </a:pPr>
            <a:r>
              <a:t/>
            </a:r>
            <a:endParaRPr sz="1400">
              <a:latin typeface="Arial"/>
              <a:ea typeface="Arial"/>
              <a:cs typeface="Arial"/>
              <a:sym typeface="Arial"/>
            </a:endParaRPr>
          </a:p>
          <a:p>
            <a:pPr indent="0" lvl="0" marL="0" rtl="0" algn="l">
              <a:lnSpc>
                <a:spcPct val="90000"/>
              </a:lnSpc>
              <a:spcBef>
                <a:spcPts val="1000"/>
              </a:spcBef>
              <a:spcAft>
                <a:spcPts val="0"/>
              </a:spcAft>
              <a:buClr>
                <a:schemeClr val="dk1"/>
              </a:buClr>
              <a:buSzPts val="1400"/>
              <a:buNone/>
            </a:pPr>
            <a:r>
              <a:t/>
            </a:r>
            <a:endParaRPr sz="1400">
              <a:latin typeface="Arial"/>
              <a:ea typeface="Arial"/>
              <a:cs typeface="Arial"/>
              <a:sym typeface="Arial"/>
            </a:endParaRPr>
          </a:p>
          <a:p>
            <a:pPr indent="0" lvl="0" marL="0" rtl="0" algn="l">
              <a:lnSpc>
                <a:spcPct val="90000"/>
              </a:lnSpc>
              <a:spcBef>
                <a:spcPts val="1000"/>
              </a:spcBef>
              <a:spcAft>
                <a:spcPts val="0"/>
              </a:spcAft>
              <a:buClr>
                <a:schemeClr val="dk1"/>
              </a:buClr>
              <a:buSzPts val="1400"/>
              <a:buNone/>
            </a:pPr>
            <a:r>
              <a:t/>
            </a:r>
            <a:endParaRPr sz="1400">
              <a:latin typeface="Arial"/>
              <a:ea typeface="Arial"/>
              <a:cs typeface="Arial"/>
              <a:sym typeface="Arial"/>
            </a:endParaRPr>
          </a:p>
          <a:p>
            <a:pPr indent="0" lvl="0" marL="0" rtl="0" algn="l">
              <a:lnSpc>
                <a:spcPct val="90000"/>
              </a:lnSpc>
              <a:spcBef>
                <a:spcPts val="1000"/>
              </a:spcBef>
              <a:spcAft>
                <a:spcPts val="0"/>
              </a:spcAft>
              <a:buClr>
                <a:schemeClr val="dk1"/>
              </a:buClr>
              <a:buSzPts val="1400"/>
              <a:buNone/>
            </a:pPr>
            <a:r>
              <a:t/>
            </a:r>
            <a:endParaRPr sz="1400">
              <a:latin typeface="Arial"/>
              <a:ea typeface="Arial"/>
              <a:cs typeface="Arial"/>
              <a:sym typeface="Arial"/>
            </a:endParaRPr>
          </a:p>
          <a:p>
            <a:pPr indent="0" lvl="0" marL="0" rtl="0" algn="l">
              <a:lnSpc>
                <a:spcPct val="90000"/>
              </a:lnSpc>
              <a:spcBef>
                <a:spcPts val="1000"/>
              </a:spcBef>
              <a:spcAft>
                <a:spcPts val="0"/>
              </a:spcAft>
              <a:buClr>
                <a:schemeClr val="dk1"/>
              </a:buClr>
              <a:buSzPts val="1800"/>
              <a:buNone/>
            </a:pPr>
            <a:r>
              <a:t/>
            </a:r>
            <a:endParaRPr b="1" sz="1800">
              <a:latin typeface="Arial"/>
              <a:ea typeface="Arial"/>
              <a:cs typeface="Arial"/>
              <a:sym typeface="Arial"/>
            </a:endParaRPr>
          </a:p>
          <a:p>
            <a:pPr indent="0" lvl="0" marL="0" rtl="0" algn="l">
              <a:lnSpc>
                <a:spcPct val="90000"/>
              </a:lnSpc>
              <a:spcBef>
                <a:spcPts val="1000"/>
              </a:spcBef>
              <a:spcAft>
                <a:spcPts val="0"/>
              </a:spcAft>
              <a:buClr>
                <a:schemeClr val="dk1"/>
              </a:buClr>
              <a:buSzPts val="1800"/>
              <a:buNone/>
            </a:pPr>
            <a:r>
              <a:t/>
            </a:r>
            <a:endParaRPr b="1" sz="1800">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0"/>
          <p:cNvSpPr txBox="1"/>
          <p:nvPr>
            <p:ph idx="1" type="body"/>
          </p:nvPr>
        </p:nvSpPr>
        <p:spPr>
          <a:xfrm>
            <a:off x="838199" y="762000"/>
            <a:ext cx="11215255" cy="60960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b="1" lang="it-IT" sz="1800">
                <a:latin typeface="Arial"/>
                <a:ea typeface="Arial"/>
                <a:cs typeface="Arial"/>
                <a:sym typeface="Arial"/>
              </a:rPr>
              <a:t>Using Kyber in hybrid key exchange</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In a hybrid setup, Kyber pairs with a classical method (e.g., ECDH) to derive a single shared secret. Here’s the process:</a:t>
            </a:r>
            <a:endParaRPr/>
          </a:p>
          <a:p>
            <a:pPr indent="0" lvl="0" marL="0" rtl="0" algn="l">
              <a:lnSpc>
                <a:spcPct val="90000"/>
              </a:lnSpc>
              <a:spcBef>
                <a:spcPts val="1000"/>
              </a:spcBef>
              <a:spcAft>
                <a:spcPts val="0"/>
              </a:spcAft>
              <a:buClr>
                <a:schemeClr val="dk1"/>
              </a:buClr>
              <a:buSzPts val="1400"/>
              <a:buNone/>
            </a:pPr>
            <a:r>
              <a:rPr lang="it-IT" sz="1400" u="sng">
                <a:latin typeface="Arial"/>
                <a:ea typeface="Arial"/>
                <a:cs typeface="Arial"/>
                <a:sym typeface="Arial"/>
              </a:rPr>
              <a:t>1.Classical Key Exchange (ECDH):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Client and server each generate an ECDH key pair (e.g., X25519, ~32 bytes each).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They exchange public keys over the network.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Both compute a shared secret (e.g., SECDHS_{ECDH}S_{ECDH}, 32 bytes) using their private key and the other’s public key.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Vulnerable to Shor’s in the future.</a:t>
            </a:r>
            <a:endParaRPr/>
          </a:p>
          <a:p>
            <a:pPr indent="0" lvl="0" marL="0" rtl="0" algn="l">
              <a:lnSpc>
                <a:spcPct val="90000"/>
              </a:lnSpc>
              <a:spcBef>
                <a:spcPts val="1000"/>
              </a:spcBef>
              <a:spcAft>
                <a:spcPts val="0"/>
              </a:spcAft>
              <a:buClr>
                <a:schemeClr val="dk1"/>
              </a:buClr>
              <a:buSzPts val="1400"/>
              <a:buNone/>
            </a:pPr>
            <a:r>
              <a:rPr lang="it-IT" sz="1400" u="sng">
                <a:latin typeface="Arial"/>
                <a:ea typeface="Arial"/>
                <a:cs typeface="Arial"/>
                <a:sym typeface="Arial"/>
              </a:rPr>
              <a:t>2.PQC Key Exchange (Kyber):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Server generates a Kyber key pair (public key ~1 KB, private key ~2-3 KB).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Server sends its Kyber public key to the client.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Client generates a random secret (e.g., 32 bytes), encapsulates it with the Kyber public key, and sends the ciphertext (~1 KB) back.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Server decapsulates the ciphertext with its Kyber private key, recovering the secret (e.g., SKyberS_{Kyber}S_{Kyber}).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Quantum-resistant.</a:t>
            </a:r>
            <a:endParaRPr/>
          </a:p>
          <a:p>
            <a:pPr indent="0" lvl="0" marL="0" rtl="0" algn="l">
              <a:lnSpc>
                <a:spcPct val="90000"/>
              </a:lnSpc>
              <a:spcBef>
                <a:spcPts val="1000"/>
              </a:spcBef>
              <a:spcAft>
                <a:spcPts val="0"/>
              </a:spcAft>
              <a:buClr>
                <a:schemeClr val="dk1"/>
              </a:buClr>
              <a:buSzPts val="1400"/>
              <a:buNone/>
            </a:pPr>
            <a:r>
              <a:rPr lang="it-IT" sz="1400" u="sng">
                <a:latin typeface="Arial"/>
                <a:ea typeface="Arial"/>
                <a:cs typeface="Arial"/>
                <a:sym typeface="Arial"/>
              </a:rPr>
              <a:t>3.Combining Secrets: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Both parties combine SECDHS_{ECDH}S_{ECDH}  and SKyberS_{Kyber}S_{Kyber} using a Key Derivation Function (KDF), like HKDF (HMAC-based KDF):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Input: SECDH∣∣SKyber∣∣contextS_{ECDH} || S_{Kyber} || contextS_{ECDH} || S_{Kyber} || context (concatenation with handshake metadata).  </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Output: A single shared secret (e.g., 32-byte session key).</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Security: The final key is secure as long as at least one method (ECDH or Kyber) remains unbroken.</a:t>
            </a:r>
            <a:endParaRPr/>
          </a:p>
          <a:p>
            <a:pPr indent="0" lvl="0" marL="0" rtl="0" algn="l">
              <a:lnSpc>
                <a:spcPct val="90000"/>
              </a:lnSpc>
              <a:spcBef>
                <a:spcPts val="1000"/>
              </a:spcBef>
              <a:spcAft>
                <a:spcPts val="0"/>
              </a:spcAft>
              <a:buClr>
                <a:schemeClr val="dk1"/>
              </a:buClr>
              <a:buSzPts val="1400"/>
              <a:buNone/>
            </a:pPr>
            <a:r>
              <a:t/>
            </a:r>
            <a:endParaRPr sz="1400">
              <a:latin typeface="Arial"/>
              <a:ea typeface="Arial"/>
              <a:cs typeface="Arial"/>
              <a:sym typeface="Arial"/>
            </a:endParaRPr>
          </a:p>
          <a:p>
            <a:pPr indent="0" lvl="0" marL="0" rtl="0" algn="l">
              <a:lnSpc>
                <a:spcPct val="90000"/>
              </a:lnSpc>
              <a:spcBef>
                <a:spcPts val="1000"/>
              </a:spcBef>
              <a:spcAft>
                <a:spcPts val="0"/>
              </a:spcAft>
              <a:buClr>
                <a:schemeClr val="dk1"/>
              </a:buClr>
              <a:buSzPts val="1400"/>
              <a:buNone/>
            </a:pPr>
            <a:r>
              <a:t/>
            </a:r>
            <a:endParaRPr b="1" sz="1400">
              <a:latin typeface="Arial"/>
              <a:ea typeface="Arial"/>
              <a:cs typeface="Arial"/>
              <a:sym typeface="Arial"/>
            </a:endParaRPr>
          </a:p>
          <a:p>
            <a:pPr indent="0" lvl="0" marL="0" rtl="0" algn="l">
              <a:lnSpc>
                <a:spcPct val="90000"/>
              </a:lnSpc>
              <a:spcBef>
                <a:spcPts val="1000"/>
              </a:spcBef>
              <a:spcAft>
                <a:spcPts val="0"/>
              </a:spcAft>
              <a:buClr>
                <a:schemeClr val="dk1"/>
              </a:buClr>
              <a:buSzPts val="1400"/>
              <a:buNone/>
            </a:pPr>
            <a:r>
              <a:t/>
            </a:r>
            <a:endParaRPr b="1" sz="1400">
              <a:latin typeface="Arial"/>
              <a:ea typeface="Arial"/>
              <a:cs typeface="Arial"/>
              <a:sym typeface="Arial"/>
            </a:endParaRPr>
          </a:p>
          <a:p>
            <a:pPr indent="0" lvl="0" marL="0" rtl="0" algn="l">
              <a:lnSpc>
                <a:spcPct val="90000"/>
              </a:lnSpc>
              <a:spcBef>
                <a:spcPts val="1000"/>
              </a:spcBef>
              <a:spcAft>
                <a:spcPts val="0"/>
              </a:spcAft>
              <a:buClr>
                <a:schemeClr val="dk1"/>
              </a:buClr>
              <a:buSzPts val="1800"/>
              <a:buNone/>
            </a:pPr>
            <a:r>
              <a:t/>
            </a:r>
            <a:endParaRPr b="1" sz="1800">
              <a:latin typeface="Arial"/>
              <a:ea typeface="Arial"/>
              <a:cs typeface="Arial"/>
              <a:sym typeface="Arial"/>
            </a:endParaRPr>
          </a:p>
        </p:txBody>
      </p:sp>
      <p:sp>
        <p:nvSpPr>
          <p:cNvPr id="228" name="Google Shape;228;p20"/>
          <p:cNvSpPr txBox="1"/>
          <p:nvPr>
            <p:ph type="title"/>
          </p:nvPr>
        </p:nvSpPr>
        <p:spPr>
          <a:xfrm>
            <a:off x="838200" y="0"/>
            <a:ext cx="10515600" cy="77585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Hands-On Implementation Guide (Part 2)</a:t>
            </a:r>
            <a:endParaRPr sz="2800">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1"/>
          <p:cNvSpPr txBox="1"/>
          <p:nvPr>
            <p:ph type="title"/>
          </p:nvPr>
        </p:nvSpPr>
        <p:spPr>
          <a:xfrm>
            <a:off x="838200" y="131762"/>
            <a:ext cx="10515600" cy="5492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Implementing Dilithium in Digital Signing Processes</a:t>
            </a:r>
            <a:endParaRPr sz="2800">
              <a:latin typeface="Arial"/>
              <a:ea typeface="Arial"/>
              <a:cs typeface="Arial"/>
              <a:sym typeface="Arial"/>
            </a:endParaRPr>
          </a:p>
        </p:txBody>
      </p:sp>
      <p:sp>
        <p:nvSpPr>
          <p:cNvPr id="234" name="Google Shape;234;p21"/>
          <p:cNvSpPr txBox="1"/>
          <p:nvPr>
            <p:ph idx="1" type="body"/>
          </p:nvPr>
        </p:nvSpPr>
        <p:spPr>
          <a:xfrm>
            <a:off x="838200" y="669347"/>
            <a:ext cx="10515600" cy="605689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b="1" lang="it-IT" sz="1800">
                <a:latin typeface="Arial"/>
                <a:ea typeface="Arial"/>
                <a:cs typeface="Arial"/>
                <a:sym typeface="Arial"/>
              </a:rPr>
              <a:t>How it enhances authentication security.</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CRYSTALS-Dilithium is a lattice-based digital signature scheme, standardized as ML-DSA in NIST’s FIPS 204 (2024).</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It’s designed to be quantum-resistant, replacing classical signatures like RSA and ECDSA, which Shor’s algorithm can break. Dilithium ensures data authenticity and integrity—e.g., proving a message or software update comes from a trusted source.</a:t>
            </a:r>
            <a:endParaRPr/>
          </a:p>
          <a:p>
            <a:pPr indent="0" lvl="0" marL="0" rtl="0" algn="l">
              <a:lnSpc>
                <a:spcPct val="90000"/>
              </a:lnSpc>
              <a:spcBef>
                <a:spcPts val="1000"/>
              </a:spcBef>
              <a:spcAft>
                <a:spcPts val="0"/>
              </a:spcAft>
              <a:buClr>
                <a:schemeClr val="dk1"/>
              </a:buClr>
              <a:buSzPts val="1200"/>
              <a:buNone/>
            </a:pPr>
            <a:r>
              <a:rPr lang="it-IT" sz="1200" u="sng">
                <a:latin typeface="Arial"/>
                <a:ea typeface="Arial"/>
                <a:cs typeface="Arial"/>
                <a:sym typeface="Arial"/>
              </a:rPr>
              <a:t>Key Sizes:  </a:t>
            </a:r>
            <a:endParaRPr/>
          </a:p>
          <a:p>
            <a:pPr indent="0" lvl="0" marL="0" rtl="0" algn="l">
              <a:lnSpc>
                <a:spcPct val="90000"/>
              </a:lnSpc>
              <a:spcBef>
                <a:spcPts val="1000"/>
              </a:spcBef>
              <a:spcAft>
                <a:spcPts val="0"/>
              </a:spcAft>
              <a:buClr>
                <a:schemeClr val="dk1"/>
              </a:buClr>
              <a:buSzPts val="1200"/>
              <a:buNone/>
            </a:pPr>
            <a:r>
              <a:rPr lang="it-IT" sz="1200">
                <a:latin typeface="Arial"/>
                <a:ea typeface="Arial"/>
                <a:cs typeface="Arial"/>
                <a:sym typeface="Arial"/>
              </a:rPr>
              <a:t>Public Key: ~1.3–2.5 KB (depending on security level: Dilithium2, 3, or 5).  </a:t>
            </a:r>
            <a:endParaRPr/>
          </a:p>
          <a:p>
            <a:pPr indent="0" lvl="0" marL="0" rtl="0" algn="l">
              <a:lnSpc>
                <a:spcPct val="90000"/>
              </a:lnSpc>
              <a:spcBef>
                <a:spcPts val="1000"/>
              </a:spcBef>
              <a:spcAft>
                <a:spcPts val="0"/>
              </a:spcAft>
              <a:buClr>
                <a:schemeClr val="dk1"/>
              </a:buClr>
              <a:buSzPts val="1200"/>
              <a:buNone/>
            </a:pPr>
            <a:r>
              <a:rPr lang="it-IT" sz="1200">
                <a:latin typeface="Arial"/>
                <a:ea typeface="Arial"/>
                <a:cs typeface="Arial"/>
                <a:sym typeface="Arial"/>
              </a:rPr>
              <a:t>Private Key: ~2.5–4.8 KB.  </a:t>
            </a:r>
            <a:endParaRPr/>
          </a:p>
          <a:p>
            <a:pPr indent="0" lvl="0" marL="0" rtl="0" algn="l">
              <a:lnSpc>
                <a:spcPct val="90000"/>
              </a:lnSpc>
              <a:spcBef>
                <a:spcPts val="1000"/>
              </a:spcBef>
              <a:spcAft>
                <a:spcPts val="0"/>
              </a:spcAft>
              <a:buClr>
                <a:schemeClr val="dk1"/>
              </a:buClr>
              <a:buSzPts val="1200"/>
              <a:buNone/>
            </a:pPr>
            <a:r>
              <a:rPr lang="it-IT" sz="1200">
                <a:latin typeface="Arial"/>
                <a:ea typeface="Arial"/>
                <a:cs typeface="Arial"/>
                <a:sym typeface="Arial"/>
              </a:rPr>
              <a:t>Signature: ~2.4–4.6 KB.</a:t>
            </a:r>
            <a:endParaRPr/>
          </a:p>
          <a:p>
            <a:pPr indent="0" lvl="0" marL="0" rtl="0" algn="l">
              <a:lnSpc>
                <a:spcPct val="90000"/>
              </a:lnSpc>
              <a:spcBef>
                <a:spcPts val="1000"/>
              </a:spcBef>
              <a:spcAft>
                <a:spcPts val="0"/>
              </a:spcAft>
              <a:buClr>
                <a:schemeClr val="dk1"/>
              </a:buClr>
              <a:buSzPts val="1200"/>
              <a:buNone/>
            </a:pPr>
            <a:r>
              <a:rPr lang="it-IT" sz="1200">
                <a:latin typeface="Arial"/>
                <a:ea typeface="Arial"/>
                <a:cs typeface="Arial"/>
                <a:sym typeface="Arial"/>
              </a:rPr>
              <a:t>Security: Based on the hardness of lattice problems (e.g., Short Integer Solution), immune to Shor’s.</a:t>
            </a:r>
            <a:endParaRPr/>
          </a:p>
          <a:p>
            <a:pPr indent="0" lvl="0" marL="0" rtl="0" algn="l">
              <a:lnSpc>
                <a:spcPct val="90000"/>
              </a:lnSpc>
              <a:spcBef>
                <a:spcPts val="1000"/>
              </a:spcBef>
              <a:spcAft>
                <a:spcPts val="0"/>
              </a:spcAft>
              <a:buClr>
                <a:schemeClr val="dk1"/>
              </a:buClr>
              <a:buSzPts val="1200"/>
              <a:buNone/>
            </a:pPr>
            <a:r>
              <a:rPr lang="it-IT" sz="1200" u="sng">
                <a:latin typeface="Arial"/>
                <a:ea typeface="Arial"/>
                <a:cs typeface="Arial"/>
                <a:sym typeface="Arial"/>
              </a:rPr>
              <a:t>How Dilithium Works as a Digital Signature</a:t>
            </a:r>
            <a:endParaRPr/>
          </a:p>
          <a:p>
            <a:pPr indent="0" lvl="0" marL="0" rtl="0" algn="l">
              <a:lnSpc>
                <a:spcPct val="90000"/>
              </a:lnSpc>
              <a:spcBef>
                <a:spcPts val="1000"/>
              </a:spcBef>
              <a:spcAft>
                <a:spcPts val="0"/>
              </a:spcAft>
              <a:buClr>
                <a:schemeClr val="dk1"/>
              </a:buClr>
              <a:buSzPts val="1200"/>
              <a:buNone/>
            </a:pPr>
            <a:r>
              <a:rPr lang="it-IT" sz="1200">
                <a:latin typeface="Arial"/>
                <a:ea typeface="Arial"/>
                <a:cs typeface="Arial"/>
                <a:sym typeface="Arial"/>
              </a:rPr>
              <a:t>Digital signatures verify a message’s origin and integrity. </a:t>
            </a:r>
            <a:endParaRPr/>
          </a:p>
          <a:p>
            <a:pPr indent="0" lvl="0" marL="0" rtl="0" algn="l">
              <a:lnSpc>
                <a:spcPct val="90000"/>
              </a:lnSpc>
              <a:spcBef>
                <a:spcPts val="1000"/>
              </a:spcBef>
              <a:spcAft>
                <a:spcPts val="0"/>
              </a:spcAft>
              <a:buClr>
                <a:schemeClr val="dk1"/>
              </a:buClr>
              <a:buSzPts val="1200"/>
              <a:buNone/>
            </a:pPr>
            <a:r>
              <a:rPr lang="it-IT" sz="1200">
                <a:latin typeface="Arial"/>
                <a:ea typeface="Arial"/>
                <a:cs typeface="Arial"/>
                <a:sym typeface="Arial"/>
              </a:rPr>
              <a:t>a)Key Generation:  </a:t>
            </a:r>
            <a:endParaRPr/>
          </a:p>
          <a:p>
            <a:pPr indent="0" lvl="0" marL="0" rtl="0" algn="l">
              <a:lnSpc>
                <a:spcPct val="90000"/>
              </a:lnSpc>
              <a:spcBef>
                <a:spcPts val="1000"/>
              </a:spcBef>
              <a:spcAft>
                <a:spcPts val="0"/>
              </a:spcAft>
              <a:buClr>
                <a:schemeClr val="dk1"/>
              </a:buClr>
              <a:buSzPts val="1200"/>
              <a:buNone/>
            </a:pPr>
            <a:r>
              <a:rPr lang="it-IT" sz="1200">
                <a:latin typeface="Arial"/>
                <a:ea typeface="Arial"/>
                <a:cs typeface="Arial"/>
                <a:sym typeface="Arial"/>
              </a:rPr>
              <a:t>A party (e.g., server) generates a Dilithium key pair:  </a:t>
            </a:r>
            <a:endParaRPr/>
          </a:p>
          <a:p>
            <a:pPr indent="0" lvl="0" marL="0" rtl="0" algn="l">
              <a:lnSpc>
                <a:spcPct val="90000"/>
              </a:lnSpc>
              <a:spcBef>
                <a:spcPts val="1000"/>
              </a:spcBef>
              <a:spcAft>
                <a:spcPts val="0"/>
              </a:spcAft>
              <a:buClr>
                <a:schemeClr val="dk1"/>
              </a:buClr>
              <a:buSzPts val="1200"/>
              <a:buNone/>
            </a:pPr>
            <a:r>
              <a:rPr lang="it-IT" sz="1200">
                <a:latin typeface="Arial"/>
                <a:ea typeface="Arial"/>
                <a:cs typeface="Arial"/>
                <a:sym typeface="Arial"/>
              </a:rPr>
              <a:t>Private key (secret, ~2.5–4.8 KB): Used to sign.  </a:t>
            </a:r>
            <a:endParaRPr/>
          </a:p>
          <a:p>
            <a:pPr indent="0" lvl="0" marL="0" rtl="0" algn="l">
              <a:lnSpc>
                <a:spcPct val="90000"/>
              </a:lnSpc>
              <a:spcBef>
                <a:spcPts val="1000"/>
              </a:spcBef>
              <a:spcAft>
                <a:spcPts val="0"/>
              </a:spcAft>
              <a:buClr>
                <a:schemeClr val="dk1"/>
              </a:buClr>
              <a:buSzPts val="1200"/>
              <a:buNone/>
            </a:pPr>
            <a:r>
              <a:rPr lang="it-IT" sz="1200">
                <a:latin typeface="Arial"/>
                <a:ea typeface="Arial"/>
                <a:cs typeface="Arial"/>
                <a:sym typeface="Arial"/>
              </a:rPr>
              <a:t>Public key (~1.3–2.5 KB): Shared to verify.</a:t>
            </a:r>
            <a:endParaRPr/>
          </a:p>
          <a:p>
            <a:pPr indent="0" lvl="0" marL="0" rtl="0" algn="l">
              <a:lnSpc>
                <a:spcPct val="90000"/>
              </a:lnSpc>
              <a:spcBef>
                <a:spcPts val="1000"/>
              </a:spcBef>
              <a:spcAft>
                <a:spcPts val="0"/>
              </a:spcAft>
              <a:buClr>
                <a:schemeClr val="dk1"/>
              </a:buClr>
              <a:buSzPts val="1200"/>
              <a:buNone/>
            </a:pPr>
            <a:r>
              <a:rPr lang="it-IT" sz="1200">
                <a:latin typeface="Arial"/>
                <a:ea typeface="Arial"/>
                <a:cs typeface="Arial"/>
                <a:sym typeface="Arial"/>
              </a:rPr>
              <a:t>Done once, stored securely (e.g., in a Hardware Security Module, HSM).</a:t>
            </a:r>
            <a:endParaRPr/>
          </a:p>
          <a:p>
            <a:pPr indent="0" lvl="0" marL="0" rtl="0" algn="l">
              <a:lnSpc>
                <a:spcPct val="90000"/>
              </a:lnSpc>
              <a:spcBef>
                <a:spcPts val="1000"/>
              </a:spcBef>
              <a:spcAft>
                <a:spcPts val="0"/>
              </a:spcAft>
              <a:buClr>
                <a:schemeClr val="dk1"/>
              </a:buClr>
              <a:buSzPts val="1200"/>
              <a:buNone/>
            </a:pPr>
            <a:r>
              <a:rPr lang="it-IT" sz="1200">
                <a:latin typeface="Arial"/>
                <a:ea typeface="Arial"/>
                <a:cs typeface="Arial"/>
                <a:sym typeface="Arial"/>
              </a:rPr>
              <a:t>B)Signing: The server hashes a message (e.g., “Update v1.0” → SHA-256 digest).  </a:t>
            </a:r>
            <a:endParaRPr/>
          </a:p>
          <a:p>
            <a:pPr indent="0" lvl="0" marL="0" rtl="0" algn="l">
              <a:lnSpc>
                <a:spcPct val="90000"/>
              </a:lnSpc>
              <a:spcBef>
                <a:spcPts val="1000"/>
              </a:spcBef>
              <a:spcAft>
                <a:spcPts val="0"/>
              </a:spcAft>
              <a:buClr>
                <a:schemeClr val="dk1"/>
              </a:buClr>
              <a:buSzPts val="1200"/>
              <a:buNone/>
            </a:pPr>
            <a:r>
              <a:rPr lang="it-IT" sz="1200">
                <a:latin typeface="Arial"/>
                <a:ea typeface="Arial"/>
                <a:cs typeface="Arial"/>
                <a:sym typeface="Arial"/>
              </a:rPr>
              <a:t>Using its Dilithium private key, it generates a signature (~2.4–4.6 KB) tied to the hash.  </a:t>
            </a:r>
            <a:endParaRPr/>
          </a:p>
          <a:p>
            <a:pPr indent="0" lvl="0" marL="0" rtl="0" algn="l">
              <a:lnSpc>
                <a:spcPct val="90000"/>
              </a:lnSpc>
              <a:spcBef>
                <a:spcPts val="1000"/>
              </a:spcBef>
              <a:spcAft>
                <a:spcPts val="0"/>
              </a:spcAft>
              <a:buClr>
                <a:schemeClr val="dk1"/>
              </a:buClr>
              <a:buSzPts val="1200"/>
              <a:buNone/>
            </a:pPr>
            <a:r>
              <a:rPr lang="it-IT" sz="1200">
                <a:latin typeface="Arial"/>
                <a:ea typeface="Arial"/>
                <a:cs typeface="Arial"/>
                <a:sym typeface="Arial"/>
              </a:rPr>
              <a:t>The signature and message (or hash) are sent to the client.</a:t>
            </a:r>
            <a:endParaRPr/>
          </a:p>
          <a:p>
            <a:pPr indent="0" lvl="0" marL="0" rtl="0" algn="l">
              <a:lnSpc>
                <a:spcPct val="90000"/>
              </a:lnSpc>
              <a:spcBef>
                <a:spcPts val="1000"/>
              </a:spcBef>
              <a:spcAft>
                <a:spcPts val="0"/>
              </a:spcAft>
              <a:buClr>
                <a:schemeClr val="dk1"/>
              </a:buClr>
              <a:buSzPts val="1200"/>
              <a:buNone/>
            </a:pPr>
            <a:r>
              <a:rPr lang="it-IT" sz="1200">
                <a:latin typeface="Arial"/>
                <a:ea typeface="Arial"/>
                <a:cs typeface="Arial"/>
                <a:sym typeface="Arial"/>
              </a:rPr>
              <a:t>C) Verification:  The client uses the server’s Dilithium public key to verify the signature against the message’s hash.  </a:t>
            </a:r>
            <a:endParaRPr/>
          </a:p>
          <a:p>
            <a:pPr indent="0" lvl="0" marL="0" rtl="0" algn="l">
              <a:lnSpc>
                <a:spcPct val="90000"/>
              </a:lnSpc>
              <a:spcBef>
                <a:spcPts val="1000"/>
              </a:spcBef>
              <a:spcAft>
                <a:spcPts val="0"/>
              </a:spcAft>
              <a:buClr>
                <a:schemeClr val="dk1"/>
              </a:buClr>
              <a:buSzPts val="1200"/>
              <a:buNone/>
            </a:pPr>
            <a:r>
              <a:rPr lang="it-IT" sz="1200">
                <a:latin typeface="Arial"/>
                <a:ea typeface="Arial"/>
                <a:cs typeface="Arial"/>
                <a:sym typeface="Arial"/>
              </a:rPr>
              <a:t>If valid, the message is authentic and unaltered; if not, it’s rejected.</a:t>
            </a:r>
            <a:endParaRPr/>
          </a:p>
          <a:p>
            <a:pPr indent="0" lvl="0" marL="0" rtl="0" algn="l">
              <a:lnSpc>
                <a:spcPct val="90000"/>
              </a:lnSpc>
              <a:spcBef>
                <a:spcPts val="1000"/>
              </a:spcBef>
              <a:spcAft>
                <a:spcPts val="0"/>
              </a:spcAft>
              <a:buClr>
                <a:schemeClr val="dk1"/>
              </a:buClr>
              <a:buSzPts val="1200"/>
              <a:buNone/>
            </a:pPr>
            <a:r>
              <a:t/>
            </a:r>
            <a:endParaRPr sz="1200">
              <a:latin typeface="Arial"/>
              <a:ea typeface="Arial"/>
              <a:cs typeface="Arial"/>
              <a:sym typeface="Arial"/>
            </a:endParaRPr>
          </a:p>
          <a:p>
            <a:pPr indent="0" lvl="0" marL="0" rtl="0" algn="l">
              <a:lnSpc>
                <a:spcPct val="90000"/>
              </a:lnSpc>
              <a:spcBef>
                <a:spcPts val="1000"/>
              </a:spcBef>
              <a:spcAft>
                <a:spcPts val="0"/>
              </a:spcAft>
              <a:buClr>
                <a:schemeClr val="dk1"/>
              </a:buClr>
              <a:buSzPts val="1200"/>
              <a:buNone/>
            </a:pPr>
            <a:r>
              <a:t/>
            </a:r>
            <a:endParaRPr b="1" sz="1200">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2"/>
          <p:cNvSpPr txBox="1"/>
          <p:nvPr>
            <p:ph type="title"/>
          </p:nvPr>
        </p:nvSpPr>
        <p:spPr>
          <a:xfrm>
            <a:off x="838200" y="0"/>
            <a:ext cx="10515600" cy="57698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Testing and Benchmarking PQC Implementations</a:t>
            </a:r>
            <a:endParaRPr sz="2800">
              <a:latin typeface="Arial"/>
              <a:ea typeface="Arial"/>
              <a:cs typeface="Arial"/>
              <a:sym typeface="Arial"/>
            </a:endParaRPr>
          </a:p>
        </p:txBody>
      </p:sp>
      <p:sp>
        <p:nvSpPr>
          <p:cNvPr id="240" name="Google Shape;240;p22"/>
          <p:cNvSpPr txBox="1"/>
          <p:nvPr>
            <p:ph idx="1" type="body"/>
          </p:nvPr>
        </p:nvSpPr>
        <p:spPr>
          <a:xfrm>
            <a:off x="838200" y="576984"/>
            <a:ext cx="10515600" cy="629580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b="1" lang="it-IT" sz="1800">
                <a:latin typeface="Arial"/>
                <a:ea typeface="Arial"/>
                <a:cs typeface="Arial"/>
                <a:sym typeface="Arial"/>
              </a:rPr>
              <a:t>Evaluating security and performance</a:t>
            </a:r>
            <a:endParaRPr/>
          </a:p>
          <a:p>
            <a:pPr indent="0" lvl="0" marL="0" rtl="0" algn="l">
              <a:lnSpc>
                <a:spcPct val="90000"/>
              </a:lnSpc>
              <a:spcBef>
                <a:spcPts val="1000"/>
              </a:spcBef>
              <a:spcAft>
                <a:spcPts val="0"/>
              </a:spcAft>
              <a:buClr>
                <a:schemeClr val="dk1"/>
              </a:buClr>
              <a:buSzPts val="1600"/>
              <a:buNone/>
            </a:pPr>
            <a:r>
              <a:rPr b="1" lang="it-IT" sz="1600">
                <a:latin typeface="Arial"/>
                <a:ea typeface="Arial"/>
                <a:cs typeface="Arial"/>
                <a:sym typeface="Arial"/>
              </a:rPr>
              <a:t>​</a:t>
            </a:r>
            <a:r>
              <a:rPr lang="it-IT" sz="1400">
                <a:latin typeface="Arial"/>
                <a:ea typeface="Arial"/>
                <a:cs typeface="Arial"/>
                <a:sym typeface="Arial"/>
              </a:rPr>
              <a:t>Recent studies have evaluated the security and performance of Post-Quantum Cryptography (PQC) implementations, providing valuable insights </a:t>
            </a:r>
            <a:endParaRPr/>
          </a:p>
          <a:p>
            <a:pPr indent="0" lvl="0" marL="0" rtl="0" algn="l">
              <a:lnSpc>
                <a:spcPct val="90000"/>
              </a:lnSpc>
              <a:spcBef>
                <a:spcPts val="1000"/>
              </a:spcBef>
              <a:spcAft>
                <a:spcPts val="0"/>
              </a:spcAft>
              <a:buClr>
                <a:schemeClr val="dk1"/>
              </a:buClr>
              <a:buSzPts val="1400"/>
              <a:buNone/>
            </a:pPr>
            <a:r>
              <a:rPr lang="it-IT" sz="1400" u="sng">
                <a:latin typeface="Arial"/>
                <a:ea typeface="Arial"/>
                <a:cs typeface="Arial"/>
                <a:sym typeface="Arial"/>
              </a:rPr>
              <a:t>1. Benchmarking PQC in TLS Protocols</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A study assessed the integration of PQC algorithms into the Transport Layer Security (TLS) protocol, focusing on hybrid key exchanges combining classical and quantum-resistant methods. Key observations include:</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Impact of Packet Loss: Packet loss rates above 3-5% significantly affect PQC algorithms that require fragmentation across multiple packets, particularly those based on unstructured lattices.</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Latency Considerations: In real-world network conditions, the inherent latency often masks the computational delays introduced by PQC algorithms, suggesting that network factors play a crucial role in perceived performance.</a:t>
            </a:r>
            <a:endParaRPr/>
          </a:p>
          <a:p>
            <a:pPr indent="0" lvl="0" marL="0" rtl="0" algn="l">
              <a:lnSpc>
                <a:spcPct val="90000"/>
              </a:lnSpc>
              <a:spcBef>
                <a:spcPts val="1000"/>
              </a:spcBef>
              <a:spcAft>
                <a:spcPts val="0"/>
              </a:spcAft>
              <a:buClr>
                <a:schemeClr val="dk1"/>
              </a:buClr>
              <a:buSzPts val="1400"/>
              <a:buNone/>
            </a:pPr>
            <a:r>
              <a:rPr lang="it-IT" sz="1400" u="sng">
                <a:latin typeface="Arial"/>
                <a:ea typeface="Arial"/>
                <a:cs typeface="Arial"/>
                <a:sym typeface="Arial"/>
              </a:rPr>
              <a:t>2. Performance on Constrained Devices</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The suitability of PQC algorithms for devices with limited resources, such as ARM Cortex-M4 microcontrollers, has been investigated. Findings indicate:</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Algorithm Suitability: Certain PQC algorithms are more adaptable to constrained environments, with performance metrics varying based on the specific implementation and optimization techniques employed.</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Benchmarking Frameworks: Tools like pqm4 have been utilized to benchmark these algorithms, providing standardized performance assessments on devices like the STM32L4R5ZI microcontroller.</a:t>
            </a:r>
            <a:endParaRPr/>
          </a:p>
          <a:p>
            <a:pPr indent="0" lvl="0" marL="0" rtl="0" algn="l">
              <a:lnSpc>
                <a:spcPct val="90000"/>
              </a:lnSpc>
              <a:spcBef>
                <a:spcPts val="1000"/>
              </a:spcBef>
              <a:spcAft>
                <a:spcPts val="0"/>
              </a:spcAft>
              <a:buClr>
                <a:schemeClr val="dk1"/>
              </a:buClr>
              <a:buSzPts val="1400"/>
              <a:buNone/>
            </a:pPr>
            <a:r>
              <a:rPr lang="it-IT" sz="1400" u="sng">
                <a:latin typeface="Arial"/>
                <a:ea typeface="Arial"/>
                <a:cs typeface="Arial"/>
                <a:sym typeface="Arial"/>
              </a:rPr>
              <a:t>3. Hardware Acceleration of PQC Algorithms</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Research into hardware implementations of PQC algorithms, such as BIKE, has provided insights into:</a:t>
            </a:r>
            <a:endParaRPr/>
          </a:p>
          <a:p>
            <a:pPr indent="0" lvl="0" marL="0" rtl="0" algn="l">
              <a:lnSpc>
                <a:spcPct val="90000"/>
              </a:lnSpc>
              <a:spcBef>
                <a:spcPts val="1000"/>
              </a:spcBef>
              <a:spcAft>
                <a:spcPts val="0"/>
              </a:spcAft>
              <a:buClr>
                <a:schemeClr val="dk1"/>
              </a:buClr>
              <a:buSzPts val="1400"/>
              <a:buNone/>
            </a:pPr>
            <a:r>
              <a:rPr lang="it-IT" sz="1400">
                <a:latin typeface="Arial"/>
                <a:ea typeface="Arial"/>
                <a:cs typeface="Arial"/>
                <a:sym typeface="Arial"/>
              </a:rPr>
              <a:t>Performance Metrics: State-of-the-art software and hardware implementations have been evaluated, highlighting the resource utilization and efficiency of PQC algorithms when deployed on hardware accelerators.</a:t>
            </a:r>
            <a:endParaRPr/>
          </a:p>
          <a:p>
            <a:pPr indent="0" lvl="0" marL="0" rtl="0" algn="l">
              <a:lnSpc>
                <a:spcPct val="90000"/>
              </a:lnSpc>
              <a:spcBef>
                <a:spcPts val="1000"/>
              </a:spcBef>
              <a:spcAft>
                <a:spcPts val="0"/>
              </a:spcAft>
              <a:buClr>
                <a:schemeClr val="dk1"/>
              </a:buClr>
              <a:buSzPts val="1400"/>
              <a:buNone/>
            </a:pPr>
            <a:r>
              <a:rPr b="1" lang="it-IT" sz="1400">
                <a:latin typeface="Arial"/>
                <a:ea typeface="Arial"/>
                <a:cs typeface="Arial"/>
                <a:sym typeface="Arial"/>
              </a:rPr>
              <a:t>These findings underscore the importance of evaluating both security and performance when implementing PQC algorithms across various platforms and applications.</a:t>
            </a:r>
            <a:endParaRPr/>
          </a:p>
          <a:p>
            <a:pPr indent="0" lvl="0" marL="0" rtl="0" algn="l">
              <a:lnSpc>
                <a:spcPct val="90000"/>
              </a:lnSpc>
              <a:spcBef>
                <a:spcPts val="1000"/>
              </a:spcBef>
              <a:spcAft>
                <a:spcPts val="0"/>
              </a:spcAft>
              <a:buClr>
                <a:schemeClr val="dk1"/>
              </a:buClr>
              <a:buSzPts val="1600"/>
              <a:buNone/>
            </a:pPr>
            <a:r>
              <a:t/>
            </a:r>
            <a:endParaRPr sz="1600">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3"/>
          <p:cNvSpPr txBox="1"/>
          <p:nvPr>
            <p:ph type="title"/>
          </p:nvPr>
        </p:nvSpPr>
        <p:spPr>
          <a:xfrm>
            <a:off x="838200" y="118195"/>
            <a:ext cx="10515600" cy="49385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Key Differences Between Classical and PQC</a:t>
            </a:r>
            <a:endParaRPr sz="2800">
              <a:latin typeface="Arial"/>
              <a:ea typeface="Arial"/>
              <a:cs typeface="Arial"/>
              <a:sym typeface="Arial"/>
            </a:endParaRPr>
          </a:p>
        </p:txBody>
      </p:sp>
      <p:pic>
        <p:nvPicPr>
          <p:cNvPr id="246" name="Google Shape;246;p23"/>
          <p:cNvPicPr preferRelativeResize="0"/>
          <p:nvPr/>
        </p:nvPicPr>
        <p:blipFill rotWithShape="1">
          <a:blip r:embed="rId3">
            <a:alphaModFix/>
          </a:blip>
          <a:srcRect b="0" l="0" r="0" t="0"/>
          <a:stretch/>
        </p:blipFill>
        <p:spPr>
          <a:xfrm>
            <a:off x="2361013" y="612052"/>
            <a:ext cx="7469974" cy="5513260"/>
          </a:xfrm>
          <a:prstGeom prst="rect">
            <a:avLst/>
          </a:prstGeom>
          <a:noFill/>
          <a:ln>
            <a:noFill/>
          </a:ln>
        </p:spPr>
      </p:pic>
      <p:sp>
        <p:nvSpPr>
          <p:cNvPr id="247" name="Google Shape;247;p23"/>
          <p:cNvSpPr txBox="1"/>
          <p:nvPr/>
        </p:nvSpPr>
        <p:spPr>
          <a:xfrm>
            <a:off x="692727" y="5908808"/>
            <a:ext cx="843741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1200" u="sng">
                <a:solidFill>
                  <a:schemeClr val="dk1"/>
                </a:solidFill>
                <a:latin typeface="Arial"/>
                <a:ea typeface="Arial"/>
                <a:cs typeface="Arial"/>
                <a:sym typeface="Arial"/>
              </a:rPr>
              <a:t>Key Takeaways:</a:t>
            </a:r>
            <a:endParaRPr/>
          </a:p>
          <a:p>
            <a:pPr indent="0" lvl="0" marL="0" marR="0" rtl="0" algn="l">
              <a:spcBef>
                <a:spcPts val="0"/>
              </a:spcBef>
              <a:spcAft>
                <a:spcPts val="0"/>
              </a:spcAft>
              <a:buNone/>
            </a:pPr>
            <a:r>
              <a:rPr lang="it-IT" sz="1200">
                <a:solidFill>
                  <a:schemeClr val="dk1"/>
                </a:solidFill>
                <a:latin typeface="Arial"/>
                <a:ea typeface="Arial"/>
                <a:cs typeface="Arial"/>
                <a:sym typeface="Arial"/>
              </a:rPr>
              <a:t>•	Classical cryptography is efficient but vulnerable to future quantum computers.</a:t>
            </a:r>
            <a:endParaRPr/>
          </a:p>
          <a:p>
            <a:pPr indent="0" lvl="0" marL="0" marR="0" rtl="0" algn="l">
              <a:spcBef>
                <a:spcPts val="0"/>
              </a:spcBef>
              <a:spcAft>
                <a:spcPts val="0"/>
              </a:spcAft>
              <a:buNone/>
            </a:pPr>
            <a:r>
              <a:rPr lang="it-IT" sz="1200">
                <a:solidFill>
                  <a:schemeClr val="dk1"/>
                </a:solidFill>
                <a:latin typeface="Arial"/>
                <a:ea typeface="Arial"/>
                <a:cs typeface="Arial"/>
                <a:sym typeface="Arial"/>
              </a:rPr>
              <a:t>•	PQC offers long-term security, but performance optimizations are needed for real-world deployment.</a:t>
            </a:r>
            <a:endParaRPr/>
          </a:p>
          <a:p>
            <a:pPr indent="0" lvl="0" marL="0" marR="0" rtl="0" algn="l">
              <a:spcBef>
                <a:spcPts val="0"/>
              </a:spcBef>
              <a:spcAft>
                <a:spcPts val="0"/>
              </a:spcAft>
              <a:buNone/>
            </a:pPr>
            <a:r>
              <a:rPr lang="it-IT" sz="1200">
                <a:solidFill>
                  <a:schemeClr val="dk1"/>
                </a:solidFill>
                <a:latin typeface="Arial"/>
                <a:ea typeface="Arial"/>
                <a:cs typeface="Arial"/>
                <a:sym typeface="Arial"/>
              </a:rPr>
              <a:t>•	Hybrid approaches (combining classical &amp; PQC) are being used for a smooth transition.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4"/>
          <p:cNvSpPr txBox="1"/>
          <p:nvPr>
            <p:ph type="title"/>
          </p:nvPr>
        </p:nvSpPr>
        <p:spPr>
          <a:xfrm>
            <a:off x="838200" y="240068"/>
            <a:ext cx="10515600" cy="5354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Hybrid Cryptography Approach</a:t>
            </a:r>
            <a:endParaRPr sz="2800">
              <a:latin typeface="Arial"/>
              <a:ea typeface="Arial"/>
              <a:cs typeface="Arial"/>
              <a:sym typeface="Arial"/>
            </a:endParaRPr>
          </a:p>
        </p:txBody>
      </p:sp>
      <p:sp>
        <p:nvSpPr>
          <p:cNvPr id="253" name="Google Shape;253;p24"/>
          <p:cNvSpPr txBox="1"/>
          <p:nvPr/>
        </p:nvSpPr>
        <p:spPr>
          <a:xfrm>
            <a:off x="838200" y="900546"/>
            <a:ext cx="9954491"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1400">
                <a:solidFill>
                  <a:schemeClr val="dk1"/>
                </a:solidFill>
                <a:latin typeface="Arial"/>
                <a:ea typeface="Arial"/>
                <a:cs typeface="Arial"/>
                <a:sym typeface="Arial"/>
              </a:rPr>
              <a:t>Why Use a Hybrid Cryptographic Approach?</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Quantum Resistance: Protects against quantum computers while maintaining classical security.</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Backward Compatibility: Ensures systems remain compatible with classical infrastructure.</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Gradual Transition: Allows organizations to migrate without immediately replacing classical cryptography</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it-IT" sz="1400">
                <a:solidFill>
                  <a:schemeClr val="dk1"/>
                </a:solidFill>
                <a:latin typeface="Arial"/>
                <a:ea typeface="Arial"/>
                <a:cs typeface="Arial"/>
                <a:sym typeface="Arial"/>
              </a:rPr>
              <a:t>✅ Risk Mitigation: Avoids potential weaknesses in newly standardized PQC algorithms.</a:t>
            </a:r>
            <a:endParaRPr/>
          </a:p>
        </p:txBody>
      </p:sp>
      <p:sp>
        <p:nvSpPr>
          <p:cNvPr id="254" name="Google Shape;254;p24"/>
          <p:cNvSpPr txBox="1"/>
          <p:nvPr/>
        </p:nvSpPr>
        <p:spPr>
          <a:xfrm>
            <a:off x="845127" y="2202873"/>
            <a:ext cx="10640291" cy="4401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1400">
                <a:solidFill>
                  <a:schemeClr val="dk1"/>
                </a:solidFill>
                <a:latin typeface="Arial"/>
                <a:ea typeface="Arial"/>
                <a:cs typeface="Arial"/>
                <a:sym typeface="Arial"/>
              </a:rPr>
              <a:t>Some examples :</a:t>
            </a:r>
            <a:endParaRPr/>
          </a:p>
          <a:p>
            <a:pPr indent="0" lvl="0" marL="0" marR="0" rtl="0" algn="l">
              <a:spcBef>
                <a:spcPts val="0"/>
              </a:spcBef>
              <a:spcAft>
                <a:spcPts val="0"/>
              </a:spcAft>
              <a:buNone/>
            </a:pPr>
            <a:r>
              <a:rPr lang="it-IT" sz="1400" u="sng">
                <a:solidFill>
                  <a:schemeClr val="dk1"/>
                </a:solidFill>
                <a:latin typeface="Arial"/>
                <a:ea typeface="Arial"/>
                <a:cs typeface="Arial"/>
                <a:sym typeface="Arial"/>
              </a:rPr>
              <a:t>A) Hybrid TLS</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it-IT" sz="1400">
                <a:solidFill>
                  <a:schemeClr val="dk1"/>
                </a:solidFill>
                <a:latin typeface="Arial"/>
                <a:ea typeface="Arial"/>
                <a:cs typeface="Arial"/>
                <a:sym typeface="Arial"/>
              </a:rPr>
              <a:t>Hybrid TLS (Transport Layer Security) integrates both Elliptic Curve Diffie-Hellman (ECDH) (classical key exchange) and Kyber (quantum-resistant key encapsulation mechanism - KEM) to secure encrypted connections.</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it-IT" sz="1400">
                <a:solidFill>
                  <a:schemeClr val="dk1"/>
                </a:solidFill>
                <a:latin typeface="Arial"/>
                <a:ea typeface="Arial"/>
                <a:cs typeface="Arial"/>
                <a:sym typeface="Arial"/>
              </a:rPr>
              <a:t>-ECDH: Provides backward compatibility for existing systems.</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-Kyber: Ensures security against future quantum attacks.</a:t>
            </a:r>
            <a:endParaRPr/>
          </a:p>
          <a:p>
            <a:pPr indent="-196850" lvl="0" marL="285750" marR="0" rtl="0" algn="l">
              <a:spcBef>
                <a:spcPts val="0"/>
              </a:spcBef>
              <a:spcAft>
                <a:spcPts val="0"/>
              </a:spcAft>
              <a:buClr>
                <a:schemeClr val="dk1"/>
              </a:buClr>
              <a:buSzPts val="1400"/>
              <a:buFont typeface="Calibri"/>
              <a:buNone/>
            </a:pPr>
            <a:r>
              <a:t/>
            </a:r>
            <a:endParaRPr sz="1400">
              <a:solidFill>
                <a:schemeClr val="dk1"/>
              </a:solidFill>
              <a:latin typeface="Arial"/>
              <a:ea typeface="Arial"/>
              <a:cs typeface="Arial"/>
              <a:sym typeface="Arial"/>
            </a:endParaRPr>
          </a:p>
          <a:p>
            <a:pPr indent="-196850" lvl="0" marL="285750" marR="0" rtl="0" algn="l">
              <a:spcBef>
                <a:spcPts val="0"/>
              </a:spcBef>
              <a:spcAft>
                <a:spcPts val="0"/>
              </a:spcAft>
              <a:buClr>
                <a:schemeClr val="dk1"/>
              </a:buClr>
              <a:buSzPts val="1400"/>
              <a:buFont typeface="Calibri"/>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it-IT" sz="1400" u="sng">
                <a:solidFill>
                  <a:schemeClr val="dk1"/>
                </a:solidFill>
                <a:latin typeface="Arial"/>
                <a:ea typeface="Arial"/>
                <a:cs typeface="Arial"/>
                <a:sym typeface="Arial"/>
              </a:rPr>
              <a:t>B) Real-World Use Cases</a:t>
            </a:r>
            <a:endParaRPr/>
          </a:p>
          <a:p>
            <a:pPr indent="-285750" lvl="0" marL="285750" marR="0" rtl="0" algn="l">
              <a:spcBef>
                <a:spcPts val="0"/>
              </a:spcBef>
              <a:spcAft>
                <a:spcPts val="0"/>
              </a:spcAft>
              <a:buClr>
                <a:schemeClr val="dk1"/>
              </a:buClr>
              <a:buSzPts val="1400"/>
              <a:buFont typeface="Arial"/>
              <a:buChar char="•"/>
            </a:pPr>
            <a:r>
              <a:rPr lang="it-IT" sz="1400">
                <a:solidFill>
                  <a:schemeClr val="dk1"/>
                </a:solidFill>
                <a:latin typeface="Arial"/>
                <a:ea typeface="Arial"/>
                <a:cs typeface="Arial"/>
                <a:sym typeface="Arial"/>
              </a:rPr>
              <a:t>Google &amp; Cloudflare: Deployed CECPQ2, a hybrid TLS using Kyber + ECDH for secure web browsing.</a:t>
            </a:r>
            <a:endParaRPr/>
          </a:p>
          <a:p>
            <a:pPr indent="-285750" lvl="0" marL="285750" marR="0" rtl="0" algn="l">
              <a:spcBef>
                <a:spcPts val="0"/>
              </a:spcBef>
              <a:spcAft>
                <a:spcPts val="0"/>
              </a:spcAft>
              <a:buClr>
                <a:schemeClr val="dk1"/>
              </a:buClr>
              <a:buSzPts val="1400"/>
              <a:buFont typeface="Arial"/>
              <a:buChar char="•"/>
            </a:pPr>
            <a:r>
              <a:rPr lang="it-IT" sz="1400">
                <a:solidFill>
                  <a:schemeClr val="dk1"/>
                </a:solidFill>
                <a:latin typeface="Arial"/>
                <a:ea typeface="Arial"/>
                <a:cs typeface="Arial"/>
                <a:sym typeface="Arial"/>
              </a:rPr>
              <a:t>AWS: Integrated PQC-ready TLS for cloud security.</a:t>
            </a:r>
            <a:endParaRPr/>
          </a:p>
          <a:p>
            <a:pPr indent="-285750" lvl="0" marL="285750" marR="0" rtl="0" algn="l">
              <a:spcBef>
                <a:spcPts val="0"/>
              </a:spcBef>
              <a:spcAft>
                <a:spcPts val="0"/>
              </a:spcAft>
              <a:buClr>
                <a:schemeClr val="dk1"/>
              </a:buClr>
              <a:buSzPts val="1400"/>
              <a:buFont typeface="Arial"/>
              <a:buChar char="•"/>
            </a:pPr>
            <a:r>
              <a:rPr lang="it-IT" sz="1400">
                <a:solidFill>
                  <a:schemeClr val="dk1"/>
                </a:solidFill>
                <a:latin typeface="Arial"/>
                <a:ea typeface="Arial"/>
                <a:cs typeface="Arial"/>
                <a:sym typeface="Arial"/>
              </a:rPr>
              <a:t>VPN Providers: Using hybrid cryptography to protect long-term secure communications.</a:t>
            </a:r>
            <a:endParaRPr/>
          </a:p>
          <a:p>
            <a:pPr indent="0" lvl="0" marL="0" marR="0" rtl="0" algn="l">
              <a:spcBef>
                <a:spcPts val="0"/>
              </a:spcBef>
              <a:spcAft>
                <a:spcPts val="0"/>
              </a:spcAft>
              <a:buNone/>
            </a:pPr>
            <a:r>
              <a:t/>
            </a:r>
            <a:endParaRPr sz="1400" u="sng">
              <a:solidFill>
                <a:schemeClr val="dk1"/>
              </a:solidFill>
              <a:latin typeface="Arial"/>
              <a:ea typeface="Arial"/>
              <a:cs typeface="Arial"/>
              <a:sym typeface="Arial"/>
            </a:endParaRPr>
          </a:p>
          <a:p>
            <a:pPr indent="0" lvl="0" marL="0" marR="0" rtl="0" algn="l">
              <a:spcBef>
                <a:spcPts val="0"/>
              </a:spcBef>
              <a:spcAft>
                <a:spcPts val="0"/>
              </a:spcAft>
              <a:buNone/>
            </a:pPr>
            <a:r>
              <a:rPr lang="it-IT" sz="1400" u="sng">
                <a:solidFill>
                  <a:schemeClr val="dk1"/>
                </a:solidFill>
                <a:latin typeface="Arial"/>
                <a:ea typeface="Arial"/>
                <a:cs typeface="Arial"/>
                <a:sym typeface="Arial"/>
              </a:rPr>
              <a:t>C) Key Takeaways</a:t>
            </a:r>
            <a:endParaRPr/>
          </a:p>
          <a:p>
            <a:pPr indent="-285750" lvl="0" marL="285750" marR="0" rtl="0" algn="l">
              <a:spcBef>
                <a:spcPts val="0"/>
              </a:spcBef>
              <a:spcAft>
                <a:spcPts val="0"/>
              </a:spcAft>
              <a:buClr>
                <a:schemeClr val="dk1"/>
              </a:buClr>
              <a:buSzPts val="1400"/>
              <a:buFont typeface="Noto Sans Symbols"/>
              <a:buChar char="▪"/>
            </a:pPr>
            <a:r>
              <a:rPr lang="it-IT" sz="1400">
                <a:solidFill>
                  <a:schemeClr val="dk1"/>
                </a:solidFill>
                <a:latin typeface="Arial"/>
                <a:ea typeface="Arial"/>
                <a:cs typeface="Arial"/>
                <a:sym typeface="Arial"/>
              </a:rPr>
              <a:t>Hybrid TLS (Kyber + ECDH) is the best approach for gradual migration to PQC</a:t>
            </a:r>
            <a:endParaRPr/>
          </a:p>
          <a:p>
            <a:pPr indent="-285750" lvl="0" marL="285750" marR="0" rtl="0" algn="l">
              <a:spcBef>
                <a:spcPts val="0"/>
              </a:spcBef>
              <a:spcAft>
                <a:spcPts val="0"/>
              </a:spcAft>
              <a:buClr>
                <a:schemeClr val="dk1"/>
              </a:buClr>
              <a:buSzPts val="1400"/>
              <a:buFont typeface="Noto Sans Symbols"/>
              <a:buChar char="▪"/>
            </a:pPr>
            <a:r>
              <a:rPr lang="it-IT" sz="1400">
                <a:solidFill>
                  <a:schemeClr val="dk1"/>
                </a:solidFill>
                <a:latin typeface="Arial"/>
                <a:ea typeface="Arial"/>
                <a:cs typeface="Arial"/>
                <a:sym typeface="Arial"/>
              </a:rPr>
              <a:t>OpenSSL (OQS-OpenSSL) provides easy implementation of hybrid cryptographic mechanisms</a:t>
            </a:r>
            <a:endParaRPr sz="14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400"/>
              <a:buFont typeface="Noto Sans Symbols"/>
              <a:buChar char="▪"/>
            </a:pPr>
            <a:r>
              <a:rPr lang="it-IT" sz="1400">
                <a:solidFill>
                  <a:schemeClr val="dk1"/>
                </a:solidFill>
                <a:latin typeface="Arial"/>
                <a:ea typeface="Arial"/>
                <a:cs typeface="Arial"/>
                <a:sym typeface="Arial"/>
              </a:rPr>
              <a:t>Organizations should adopt hybrid models today to ensure long-term security.</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5"/>
          <p:cNvSpPr txBox="1"/>
          <p:nvPr>
            <p:ph type="title"/>
          </p:nvPr>
        </p:nvSpPr>
        <p:spPr>
          <a:xfrm>
            <a:off x="838200" y="0"/>
            <a:ext cx="10515600" cy="80399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Future-Proofing Cryptographic Infrastructures 1/2</a:t>
            </a:r>
            <a:endParaRPr sz="2800">
              <a:latin typeface="Arial"/>
              <a:ea typeface="Arial"/>
              <a:cs typeface="Arial"/>
              <a:sym typeface="Arial"/>
            </a:endParaRPr>
          </a:p>
        </p:txBody>
      </p:sp>
      <p:sp>
        <p:nvSpPr>
          <p:cNvPr id="261" name="Google Shape;261;p25"/>
          <p:cNvSpPr txBox="1"/>
          <p:nvPr/>
        </p:nvSpPr>
        <p:spPr>
          <a:xfrm>
            <a:off x="332509" y="803997"/>
            <a:ext cx="11859491" cy="59473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1400">
                <a:solidFill>
                  <a:schemeClr val="dk1"/>
                </a:solidFill>
                <a:latin typeface="Arial"/>
                <a:ea typeface="Arial"/>
                <a:cs typeface="Arial"/>
                <a:sym typeface="Arial"/>
              </a:rPr>
              <a:t>1. Adopt Post-Quantum Cryptography (PQC)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What: Replace vulnerable algorithms with NIST-standardized PQC (e.g., CRYSTALS-Kyber for key exchange, Dilithium for signatures).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How:         Integrate into TLS 1.3, VPNs, and SSH (e.g., Kyber in hybrid key exchange). </a:t>
            </a:r>
            <a:endParaRPr/>
          </a:p>
          <a:p>
            <a:pPr indent="0" lvl="1" marL="457200" marR="0" rtl="0" algn="l">
              <a:spcBef>
                <a:spcPts val="0"/>
              </a:spcBef>
              <a:spcAft>
                <a:spcPts val="0"/>
              </a:spcAft>
              <a:buNone/>
            </a:pPr>
            <a:r>
              <a:rPr b="0" i="0" lang="it-IT" sz="1400" u="none" cap="none" strike="noStrike">
                <a:solidFill>
                  <a:schemeClr val="dk1"/>
                </a:solidFill>
                <a:latin typeface="Arial"/>
                <a:ea typeface="Arial"/>
                <a:cs typeface="Arial"/>
                <a:sym typeface="Arial"/>
              </a:rPr>
              <a:t>                Use libraries like OpenQuantumSafe (OQS) in software stacks.</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Why:   Lattice-based PQC resists Shor’s; protects against HNDL.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Example:  A bank swaps RSA for Kyber, securing transactions to 2040.</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it-IT" sz="1400">
                <a:solidFill>
                  <a:schemeClr val="dk1"/>
                </a:solidFill>
                <a:latin typeface="Arial"/>
                <a:ea typeface="Arial"/>
                <a:cs typeface="Arial"/>
                <a:sym typeface="Arial"/>
              </a:rPr>
              <a:t>2.Implement Hybrid Cryptography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What: Combine classical (e.g., ECDH) and PQC (e.g., Kyber) methods.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How:          Dual key exchange: S_{ECDH} + S_{Kyber} via KDF (e.g., HKDF) into one session key.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        Dual signatures: ECDSA + Dilithium on certificates.</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Why: Ensures compatibility with 2025 systems while adding quantum resistance; hedges against PQC flaws.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Example: An IoT device uses ECDH+Kyber, working with old and new clients.</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it-IT" sz="1400">
                <a:solidFill>
                  <a:schemeClr val="dk1"/>
                </a:solidFill>
                <a:latin typeface="Arial"/>
                <a:ea typeface="Arial"/>
                <a:cs typeface="Arial"/>
                <a:sym typeface="Arial"/>
              </a:rPr>
              <a:t>3.Increase Symmetric Key and Hash Sizes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What: Use AES-256 (or higher) and SHA-512 instead of AES-128/SHA-256.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How: Update protocols and hardware to support larger keys (e.g., AES-256 in TLS 1.3).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Why: Grover’s halves strength (e.g., AES-256 → 128-bit), but 2^{128} steps remain impractical; future-proofs symmetric crypto.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Example: A healthcare database upsizes to AES-256, safe for 50 years.</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lnSpc>
                <a:spcPct val="107000"/>
              </a:lnSpc>
              <a:spcBef>
                <a:spcPts val="0"/>
              </a:spcBef>
              <a:spcAft>
                <a:spcPts val="0"/>
              </a:spcAft>
              <a:buNone/>
            </a:pPr>
            <a:r>
              <a:rPr lang="it-IT" sz="1400">
                <a:solidFill>
                  <a:schemeClr val="dk1"/>
                </a:solidFill>
                <a:latin typeface="Arial"/>
                <a:ea typeface="Arial"/>
                <a:cs typeface="Arial"/>
                <a:sym typeface="Arial"/>
              </a:rPr>
              <a:t>4.Leverage Quantum Key Distribution (QKD) </a:t>
            </a:r>
            <a:endParaRPr sz="1400">
              <a:solidFill>
                <a:schemeClr val="dk1"/>
              </a:solidFill>
              <a:latin typeface="Arial"/>
              <a:ea typeface="Arial"/>
              <a:cs typeface="Arial"/>
              <a:sym typeface="Arial"/>
            </a:endParaRPr>
          </a:p>
          <a:p>
            <a:pPr indent="0" lvl="1" marL="457200" marR="0" rtl="0" algn="l">
              <a:lnSpc>
                <a:spcPct val="107000"/>
              </a:lnSpc>
              <a:spcBef>
                <a:spcPts val="800"/>
              </a:spcBef>
              <a:spcAft>
                <a:spcPts val="0"/>
              </a:spcAft>
              <a:buNone/>
            </a:pPr>
            <a:r>
              <a:rPr b="0" i="0" lang="it-IT" sz="1400" u="none" cap="none" strike="noStrike">
                <a:solidFill>
                  <a:schemeClr val="dk1"/>
                </a:solidFill>
                <a:latin typeface="Arial"/>
                <a:ea typeface="Arial"/>
                <a:cs typeface="Arial"/>
                <a:sym typeface="Arial"/>
              </a:rPr>
              <a:t>What: Share keys via quantum mechanics (e.g., BB84 protocol). </a:t>
            </a:r>
            <a:endParaRPr b="0" i="0" sz="1400" u="none" cap="none" strike="noStrike">
              <a:solidFill>
                <a:schemeClr val="dk1"/>
              </a:solidFill>
              <a:latin typeface="Arial"/>
              <a:ea typeface="Arial"/>
              <a:cs typeface="Arial"/>
              <a:sym typeface="Arial"/>
            </a:endParaRPr>
          </a:p>
          <a:p>
            <a:pPr indent="0" lvl="1" marL="457200" marR="0" rtl="0" algn="l">
              <a:lnSpc>
                <a:spcPct val="107000"/>
              </a:lnSpc>
              <a:spcBef>
                <a:spcPts val="800"/>
              </a:spcBef>
              <a:spcAft>
                <a:spcPts val="0"/>
              </a:spcAft>
              <a:buNone/>
            </a:pPr>
            <a:r>
              <a:rPr b="0" i="0" lang="it-IT" sz="1400" u="none" cap="none" strike="noStrike">
                <a:solidFill>
                  <a:schemeClr val="dk1"/>
                </a:solidFill>
                <a:latin typeface="Arial"/>
                <a:ea typeface="Arial"/>
                <a:cs typeface="Arial"/>
                <a:sym typeface="Arial"/>
              </a:rPr>
              <a:t>How: Deploy QKD over fiber or satellite for ultra-secure key exchange, paired with AES. </a:t>
            </a:r>
            <a:endParaRPr b="0" i="0" sz="1400" u="none" cap="none" strike="noStrike">
              <a:solidFill>
                <a:schemeClr val="dk1"/>
              </a:solidFill>
              <a:latin typeface="Arial"/>
              <a:ea typeface="Arial"/>
              <a:cs typeface="Arial"/>
              <a:sym typeface="Arial"/>
            </a:endParaRPr>
          </a:p>
          <a:p>
            <a:pPr indent="0" lvl="1" marL="457200" marR="0" rtl="0" algn="l">
              <a:lnSpc>
                <a:spcPct val="107000"/>
              </a:lnSpc>
              <a:spcBef>
                <a:spcPts val="800"/>
              </a:spcBef>
              <a:spcAft>
                <a:spcPts val="0"/>
              </a:spcAft>
              <a:buNone/>
            </a:pPr>
            <a:r>
              <a:rPr b="0" i="0" lang="it-IT" sz="1400" u="none" cap="none" strike="noStrike">
                <a:solidFill>
                  <a:schemeClr val="dk1"/>
                </a:solidFill>
                <a:latin typeface="Arial"/>
                <a:ea typeface="Arial"/>
                <a:cs typeface="Arial"/>
                <a:sym typeface="Arial"/>
              </a:rPr>
              <a:t>Why: Physics-based security, immune to computational attacks (quantum or classical). </a:t>
            </a:r>
            <a:endParaRPr b="0" i="0" sz="1400" u="none" cap="none" strike="noStrike">
              <a:solidFill>
                <a:schemeClr val="dk1"/>
              </a:solidFill>
              <a:latin typeface="Arial"/>
              <a:ea typeface="Arial"/>
              <a:cs typeface="Arial"/>
              <a:sym typeface="Arial"/>
            </a:endParaRPr>
          </a:p>
          <a:p>
            <a:pPr indent="0" lvl="1" marL="457200" marR="0" rtl="0" algn="l">
              <a:lnSpc>
                <a:spcPct val="107000"/>
              </a:lnSpc>
              <a:spcBef>
                <a:spcPts val="800"/>
              </a:spcBef>
              <a:spcAft>
                <a:spcPts val="0"/>
              </a:spcAft>
              <a:buNone/>
            </a:pPr>
            <a:r>
              <a:rPr b="0" i="0" lang="it-IT" sz="1400" u="none" cap="none" strike="noStrike">
                <a:solidFill>
                  <a:schemeClr val="dk1"/>
                </a:solidFill>
                <a:latin typeface="Arial"/>
                <a:ea typeface="Arial"/>
                <a:cs typeface="Arial"/>
                <a:sym typeface="Arial"/>
              </a:rPr>
              <a:t>Limits: Niche use (e.g., banks, governments) due to hardware and range (~100–1,000 km).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6"/>
          <p:cNvSpPr txBox="1"/>
          <p:nvPr>
            <p:ph type="title"/>
          </p:nvPr>
        </p:nvSpPr>
        <p:spPr>
          <a:xfrm>
            <a:off x="838200" y="0"/>
            <a:ext cx="10515600" cy="80399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Future-Proofing Cryptographic Infrastructures 2/2</a:t>
            </a:r>
            <a:endParaRPr sz="2800">
              <a:latin typeface="Arial"/>
              <a:ea typeface="Arial"/>
              <a:cs typeface="Arial"/>
              <a:sym typeface="Arial"/>
            </a:endParaRPr>
          </a:p>
        </p:txBody>
      </p:sp>
      <p:sp>
        <p:nvSpPr>
          <p:cNvPr id="267" name="Google Shape;267;p26"/>
          <p:cNvSpPr txBox="1"/>
          <p:nvPr/>
        </p:nvSpPr>
        <p:spPr>
          <a:xfrm>
            <a:off x="235527" y="790143"/>
            <a:ext cx="11720945" cy="59708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1400">
                <a:solidFill>
                  <a:schemeClr val="dk1"/>
                </a:solidFill>
                <a:latin typeface="Arial"/>
                <a:ea typeface="Arial"/>
                <a:cs typeface="Arial"/>
                <a:sym typeface="Arial"/>
              </a:rPr>
              <a:t>5.Build Crypto-Agility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What: Design systems to swap algorithms easily.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How: 	         Modular software (e.g., OpenSSL plugins for new algorithms).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        Regular audits and updates (e.g., NIST’s Round 4 PQC candidates).</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Why: Adapts to new threats or standards (e.g., if Kyber’s broken, switch to BIKE).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Example: A smart city updates IoT crypto yearly without replacing devices.</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it-IT" sz="1400">
                <a:solidFill>
                  <a:schemeClr val="dk1"/>
                </a:solidFill>
                <a:latin typeface="Arial"/>
                <a:ea typeface="Arial"/>
                <a:cs typeface="Arial"/>
                <a:sym typeface="Arial"/>
              </a:rPr>
              <a:t>6.Plan Migration Strategically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What: Gradual shift from classical to PQC.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How:          Inventory current crypto (e.g., RSA in finance TLS).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       Test PQC in pilots (e.g., Dilithium in healthcare certs).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        Deploy hybrid, then full PQC (e.g., NIST’s 2035 goal).</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Why: Minimizes disruption; meets regulations (e.g., EU’s DORA).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Example: A hospital phases in Kyber over 5 years.</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Challenges</a:t>
            </a:r>
            <a:endParaRPr/>
          </a:p>
          <a:p>
            <a:pPr indent="-285750" lvl="0" marL="285750" marR="0" rtl="0" algn="l">
              <a:spcBef>
                <a:spcPts val="0"/>
              </a:spcBef>
              <a:spcAft>
                <a:spcPts val="0"/>
              </a:spcAft>
              <a:buClr>
                <a:schemeClr val="dk1"/>
              </a:buClr>
              <a:buSzPts val="1400"/>
              <a:buFont typeface="Noto Sans Symbols"/>
              <a:buChar char="✔"/>
            </a:pPr>
            <a:r>
              <a:rPr lang="it-IT" sz="1400">
                <a:solidFill>
                  <a:schemeClr val="dk1"/>
                </a:solidFill>
                <a:latin typeface="Arial"/>
                <a:ea typeface="Arial"/>
                <a:cs typeface="Arial"/>
                <a:sym typeface="Arial"/>
              </a:rPr>
              <a:t>	Technical: Larger PQC keys (e.g., Kyber ~1 KB vs. ECC 32 bytes) strain IoT; legacy systems resist change. </a:t>
            </a:r>
            <a:endParaRPr/>
          </a:p>
          <a:p>
            <a:pPr indent="-285750" lvl="0" marL="285750" marR="0" rtl="0" algn="l">
              <a:spcBef>
                <a:spcPts val="0"/>
              </a:spcBef>
              <a:spcAft>
                <a:spcPts val="0"/>
              </a:spcAft>
              <a:buClr>
                <a:schemeClr val="dk1"/>
              </a:buClr>
              <a:buSzPts val="1400"/>
              <a:buFont typeface="Noto Sans Symbols"/>
              <a:buChar char="✔"/>
            </a:pPr>
            <a:r>
              <a:rPr lang="it-IT" sz="1400">
                <a:solidFill>
                  <a:schemeClr val="dk1"/>
                </a:solidFill>
                <a:latin typeface="Arial"/>
                <a:ea typeface="Arial"/>
                <a:cs typeface="Arial"/>
                <a:sym typeface="Arial"/>
              </a:rPr>
              <a:t>	Regulatory: No global PQC mandate yet; compliance (e.g., HIPAA, GDPR) lags. </a:t>
            </a:r>
            <a:endParaRPr/>
          </a:p>
          <a:p>
            <a:pPr indent="-285750" lvl="0" marL="285750" marR="0" rtl="0" algn="l">
              <a:spcBef>
                <a:spcPts val="0"/>
              </a:spcBef>
              <a:spcAft>
                <a:spcPts val="0"/>
              </a:spcAft>
              <a:buClr>
                <a:schemeClr val="dk1"/>
              </a:buClr>
              <a:buSzPts val="1400"/>
              <a:buFont typeface="Noto Sans Symbols"/>
              <a:buChar char="✔"/>
            </a:pPr>
            <a:r>
              <a:rPr lang="it-IT" sz="1400">
                <a:solidFill>
                  <a:schemeClr val="dk1"/>
                </a:solidFill>
                <a:latin typeface="Arial"/>
                <a:ea typeface="Arial"/>
                <a:cs typeface="Arial"/>
                <a:sym typeface="Arial"/>
              </a:rPr>
              <a:t>	Adoption: Costs and inertia slow rollout (March 2025).</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it-IT" sz="1400">
                <a:solidFill>
                  <a:schemeClr val="dk1"/>
                </a:solidFill>
                <a:latin typeface="Arial"/>
                <a:ea typeface="Arial"/>
                <a:cs typeface="Arial"/>
                <a:sym typeface="Arial"/>
              </a:rPr>
              <a:t>Status (March 2025)</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PQC: NIST standards (FIPS 203–205) are live; OQS, Cloudflare test Kyber/Dilithium.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Quantum: IBM’s 433-qubit Osprey advances, but fault-tolerant systems are 5–20 years off. </a:t>
            </a:r>
            <a:endParaRPr/>
          </a:p>
          <a:p>
            <a:pPr indent="0" lvl="0" marL="0" marR="0" rtl="0" algn="l">
              <a:spcBef>
                <a:spcPts val="0"/>
              </a:spcBef>
              <a:spcAft>
                <a:spcPts val="0"/>
              </a:spcAft>
              <a:buNone/>
            </a:pPr>
            <a:r>
              <a:rPr lang="it-IT" sz="1400">
                <a:solidFill>
                  <a:schemeClr val="dk1"/>
                </a:solidFill>
                <a:latin typeface="Arial"/>
                <a:ea typeface="Arial"/>
                <a:cs typeface="Arial"/>
                <a:sym typeface="Arial"/>
              </a:rPr>
              <a:t>•	Future: Hybrid and crypto-agility lead; QKD grows in niche sectors.</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it-IT" sz="1600">
                <a:solidFill>
                  <a:schemeClr val="dk1"/>
                </a:solidFill>
                <a:latin typeface="Arial"/>
                <a:ea typeface="Arial"/>
                <a:cs typeface="Arial"/>
                <a:sym typeface="Arial"/>
              </a:rPr>
              <a:t>Future-proofing stops HNDL breaches—e.g., a 2025 medical record decrypted in 2035—or financial chaos from cracked trades. It’s proactive security for a quantum world</a:t>
            </a:r>
            <a:r>
              <a:rPr lang="it-IT" sz="1600">
                <a:solidFill>
                  <a:schemeClr val="dk1"/>
                </a:solidFill>
                <a:latin typeface="Arial"/>
                <a:ea typeface="Arial"/>
                <a:cs typeface="Arial"/>
                <a:sym typeface="Arial"/>
              </a:rPr>
              <a: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7"/>
          <p:cNvSpPr txBox="1"/>
          <p:nvPr>
            <p:ph type="title"/>
          </p:nvPr>
        </p:nvSpPr>
        <p:spPr>
          <a:xfrm>
            <a:off x="838200" y="18328"/>
            <a:ext cx="10515600" cy="66270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800"/>
              <a:buFont typeface="Arial"/>
              <a:buNone/>
            </a:pPr>
            <a:r>
              <a:rPr b="1" lang="it-IT" sz="2800">
                <a:solidFill>
                  <a:srgbClr val="000000"/>
                </a:solidFill>
                <a:latin typeface="Arial"/>
                <a:ea typeface="Arial"/>
                <a:cs typeface="Arial"/>
                <a:sym typeface="Arial"/>
              </a:rPr>
              <a:t>Regulatory &amp; Compliance Frameworks</a:t>
            </a:r>
            <a:endParaRPr sz="2800">
              <a:latin typeface="Arial"/>
              <a:ea typeface="Arial"/>
              <a:cs typeface="Arial"/>
              <a:sym typeface="Arial"/>
            </a:endParaRPr>
          </a:p>
        </p:txBody>
      </p:sp>
      <p:sp>
        <p:nvSpPr>
          <p:cNvPr id="273" name="Google Shape;273;p27"/>
          <p:cNvSpPr txBox="1"/>
          <p:nvPr>
            <p:ph idx="1" type="body"/>
          </p:nvPr>
        </p:nvSpPr>
        <p:spPr>
          <a:xfrm>
            <a:off x="838200" y="581891"/>
            <a:ext cx="11049000" cy="6137564"/>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it-IT" sz="1300">
                <a:latin typeface="Arial"/>
                <a:ea typeface="Arial"/>
                <a:cs typeface="Arial"/>
                <a:sym typeface="Arial"/>
              </a:rPr>
              <a:t>As quantum computing threatens classical cryptography (e.g., RSA, ECC via Shor’s algorithm), regulatory and compliance frameworks are evolving to address this shift. NIST’s PQC standards—FIPS 203 (ML-KEM/Kyber), FIPS 204 (ML-DSA/Dilithium), and FIPS 205 (SLH-DSA/SPHINCS+)—provide quantum-resistant algorithms finalized in August 2024.</a:t>
            </a:r>
            <a:endParaRPr/>
          </a:p>
          <a:p>
            <a:pPr indent="0" lvl="0" marL="0" rtl="0" algn="l">
              <a:lnSpc>
                <a:spcPct val="90000"/>
              </a:lnSpc>
              <a:spcBef>
                <a:spcPts val="1000"/>
              </a:spcBef>
              <a:spcAft>
                <a:spcPts val="0"/>
              </a:spcAft>
              <a:buClr>
                <a:schemeClr val="dk1"/>
              </a:buClr>
              <a:buSzPct val="100000"/>
              <a:buNone/>
            </a:pPr>
            <a:r>
              <a:rPr lang="it-IT" sz="1300">
                <a:latin typeface="Arial"/>
                <a:ea typeface="Arial"/>
                <a:cs typeface="Arial"/>
                <a:sym typeface="Arial"/>
              </a:rPr>
              <a:t>These intersect with frameworks like GDPR, ISO/IEC 27001, and PCI-DSS, which govern data security across industries (e.g., finance, healthcare, IoT), though none explicitly mandate PQC yet as of March 2025.</a:t>
            </a:r>
            <a:endParaRPr/>
          </a:p>
          <a:p>
            <a:pPr indent="0" lvl="0" marL="0" rtl="0" algn="l">
              <a:lnSpc>
                <a:spcPct val="90000"/>
              </a:lnSpc>
              <a:spcBef>
                <a:spcPts val="1000"/>
              </a:spcBef>
              <a:spcAft>
                <a:spcPts val="0"/>
              </a:spcAft>
              <a:buClr>
                <a:schemeClr val="dk1"/>
              </a:buClr>
              <a:buSzPct val="100000"/>
              <a:buNone/>
            </a:pPr>
            <a:r>
              <a:rPr b="1" lang="it-IT" sz="1400">
                <a:latin typeface="Arial"/>
                <a:ea typeface="Arial"/>
                <a:cs typeface="Arial"/>
                <a:sym typeface="Arial"/>
              </a:rPr>
              <a:t>NIST PQC Standards (FIPS 203, 204, 205)</a:t>
            </a:r>
            <a:endParaRPr/>
          </a:p>
          <a:p>
            <a:pPr indent="0" lvl="0" marL="0" rtl="0" algn="l">
              <a:lnSpc>
                <a:spcPct val="90000"/>
              </a:lnSpc>
              <a:spcBef>
                <a:spcPts val="1000"/>
              </a:spcBef>
              <a:spcAft>
                <a:spcPts val="0"/>
              </a:spcAft>
              <a:buClr>
                <a:schemeClr val="dk1"/>
              </a:buClr>
              <a:buSzPct val="100000"/>
              <a:buNone/>
            </a:pPr>
            <a:r>
              <a:rPr lang="it-IT" sz="1400">
                <a:latin typeface="Arial"/>
                <a:ea typeface="Arial"/>
                <a:cs typeface="Arial"/>
                <a:sym typeface="Arial"/>
              </a:rPr>
              <a:t>          Purpose: </a:t>
            </a:r>
            <a:endParaRPr/>
          </a:p>
          <a:p>
            <a:pPr indent="0" lvl="0" marL="0" rtl="0" algn="l">
              <a:lnSpc>
                <a:spcPct val="90000"/>
              </a:lnSpc>
              <a:spcBef>
                <a:spcPts val="1000"/>
              </a:spcBef>
              <a:spcAft>
                <a:spcPts val="0"/>
              </a:spcAft>
              <a:buClr>
                <a:schemeClr val="dk1"/>
              </a:buClr>
              <a:buSzPct val="100000"/>
              <a:buNone/>
            </a:pPr>
            <a:r>
              <a:rPr lang="it-IT" sz="1400">
                <a:latin typeface="Arial"/>
                <a:ea typeface="Arial"/>
                <a:cs typeface="Arial"/>
                <a:sym typeface="Arial"/>
              </a:rPr>
              <a:t>o	FIPS 203: Key encapsulation (Kyber) for secure key exchange. </a:t>
            </a:r>
            <a:endParaRPr/>
          </a:p>
          <a:p>
            <a:pPr indent="0" lvl="0" marL="0" rtl="0" algn="l">
              <a:lnSpc>
                <a:spcPct val="90000"/>
              </a:lnSpc>
              <a:spcBef>
                <a:spcPts val="1000"/>
              </a:spcBef>
              <a:spcAft>
                <a:spcPts val="0"/>
              </a:spcAft>
              <a:buClr>
                <a:schemeClr val="dk1"/>
              </a:buClr>
              <a:buSzPct val="100000"/>
              <a:buNone/>
            </a:pPr>
            <a:r>
              <a:rPr lang="it-IT" sz="1400">
                <a:latin typeface="Arial"/>
                <a:ea typeface="Arial"/>
                <a:cs typeface="Arial"/>
                <a:sym typeface="Arial"/>
              </a:rPr>
              <a:t>o	FIPS 204: Digital signatures (Dilithium) for authentication. </a:t>
            </a:r>
            <a:endParaRPr/>
          </a:p>
          <a:p>
            <a:pPr indent="0" lvl="0" marL="0" rtl="0" algn="l">
              <a:lnSpc>
                <a:spcPct val="90000"/>
              </a:lnSpc>
              <a:spcBef>
                <a:spcPts val="1000"/>
              </a:spcBef>
              <a:spcAft>
                <a:spcPts val="0"/>
              </a:spcAft>
              <a:buClr>
                <a:schemeClr val="dk1"/>
              </a:buClr>
              <a:buSzPct val="100000"/>
              <a:buNone/>
            </a:pPr>
            <a:r>
              <a:rPr lang="it-IT" sz="1400">
                <a:latin typeface="Arial"/>
                <a:ea typeface="Arial"/>
                <a:cs typeface="Arial"/>
                <a:sym typeface="Arial"/>
              </a:rPr>
              <a:t>o	FIPS 205: Alternative signatures (SPHINCS+) for long-term integrity.</a:t>
            </a:r>
            <a:endParaRPr/>
          </a:p>
          <a:p>
            <a:pPr indent="0" lvl="0" marL="0" rtl="0" algn="l">
              <a:lnSpc>
                <a:spcPct val="90000"/>
              </a:lnSpc>
              <a:spcBef>
                <a:spcPts val="1000"/>
              </a:spcBef>
              <a:spcAft>
                <a:spcPts val="0"/>
              </a:spcAft>
              <a:buClr>
                <a:schemeClr val="dk1"/>
              </a:buClr>
              <a:buSzPct val="100000"/>
              <a:buNone/>
            </a:pPr>
            <a:r>
              <a:rPr lang="it-IT" sz="1400">
                <a:latin typeface="Arial"/>
                <a:ea typeface="Arial"/>
                <a:cs typeface="Arial"/>
                <a:sym typeface="Arial"/>
              </a:rPr>
              <a:t>•	Compliance Role: U.S. federal agencies must adopt FIPS-approved crypto (per FISMA); private sectors use them for NIST-aligned standards (e.g., FIPS 140-3 validation). </a:t>
            </a:r>
            <a:endParaRPr/>
          </a:p>
          <a:p>
            <a:pPr indent="0" lvl="0" marL="0" rtl="0" algn="l">
              <a:lnSpc>
                <a:spcPct val="90000"/>
              </a:lnSpc>
              <a:spcBef>
                <a:spcPts val="1000"/>
              </a:spcBef>
              <a:spcAft>
                <a:spcPts val="0"/>
              </a:spcAft>
              <a:buClr>
                <a:schemeClr val="dk1"/>
              </a:buClr>
              <a:buSzPct val="100000"/>
              <a:buNone/>
            </a:pPr>
            <a:r>
              <a:rPr lang="it-IT" sz="1400">
                <a:latin typeface="Arial"/>
                <a:ea typeface="Arial"/>
                <a:cs typeface="Arial"/>
                <a:sym typeface="Arial"/>
              </a:rPr>
              <a:t>•	Status: Mandatory for U.S. government post-2024; voluntary elsewhere, but a benchmark for quantum readiness (e.g., TLS 1.3 updates). </a:t>
            </a:r>
            <a:endParaRPr/>
          </a:p>
          <a:p>
            <a:pPr indent="0" lvl="0" marL="0" rtl="0" algn="l">
              <a:lnSpc>
                <a:spcPct val="90000"/>
              </a:lnSpc>
              <a:spcBef>
                <a:spcPts val="1000"/>
              </a:spcBef>
              <a:spcAft>
                <a:spcPts val="0"/>
              </a:spcAft>
              <a:buClr>
                <a:schemeClr val="dk1"/>
              </a:buClr>
              <a:buSzPct val="100000"/>
              <a:buNone/>
            </a:pPr>
            <a:r>
              <a:rPr lang="it-IT" sz="1400">
                <a:latin typeface="Arial"/>
                <a:ea typeface="Arial"/>
                <a:cs typeface="Arial"/>
                <a:sym typeface="Arial"/>
              </a:rPr>
              <a:t>•	Relevance: Counters “Harvest Now, Decrypt Later” by ensuring future-proof encryption.</a:t>
            </a:r>
            <a:endParaRPr/>
          </a:p>
          <a:p>
            <a:pPr indent="0" lvl="0" marL="0" rtl="0" algn="l">
              <a:lnSpc>
                <a:spcPct val="90000"/>
              </a:lnSpc>
              <a:spcBef>
                <a:spcPts val="1000"/>
              </a:spcBef>
              <a:spcAft>
                <a:spcPts val="0"/>
              </a:spcAft>
              <a:buClr>
                <a:schemeClr val="dk1"/>
              </a:buClr>
              <a:buSzPct val="100000"/>
              <a:buNone/>
            </a:pPr>
            <a:r>
              <a:t/>
            </a:r>
            <a:endParaRPr sz="1400">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rPr b="1" lang="it-IT" sz="1400">
                <a:latin typeface="Arial"/>
                <a:ea typeface="Arial"/>
                <a:cs typeface="Arial"/>
                <a:sym typeface="Arial"/>
              </a:rPr>
              <a:t>GDPR (General Data Protection Regulation)</a:t>
            </a:r>
            <a:endParaRPr/>
          </a:p>
          <a:p>
            <a:pPr indent="0" lvl="0" marL="0" rtl="0" algn="l">
              <a:lnSpc>
                <a:spcPct val="90000"/>
              </a:lnSpc>
              <a:spcBef>
                <a:spcPts val="1000"/>
              </a:spcBef>
              <a:spcAft>
                <a:spcPts val="0"/>
              </a:spcAft>
              <a:buClr>
                <a:schemeClr val="dk1"/>
              </a:buClr>
              <a:buSzPct val="100000"/>
              <a:buNone/>
            </a:pPr>
            <a:r>
              <a:rPr lang="it-IT" sz="1400">
                <a:latin typeface="Arial"/>
                <a:ea typeface="Arial"/>
                <a:cs typeface="Arial"/>
                <a:sym typeface="Arial"/>
              </a:rPr>
              <a:t>      Scope: EU regulation (2018) for data protection, applicable to any organization handling EU residents’ data.  </a:t>
            </a:r>
            <a:endParaRPr/>
          </a:p>
          <a:p>
            <a:pPr indent="0" lvl="0" marL="0" rtl="0" algn="l">
              <a:lnSpc>
                <a:spcPct val="90000"/>
              </a:lnSpc>
              <a:spcBef>
                <a:spcPts val="1000"/>
              </a:spcBef>
              <a:spcAft>
                <a:spcPts val="0"/>
              </a:spcAft>
              <a:buClr>
                <a:schemeClr val="dk1"/>
              </a:buClr>
              <a:buSzPct val="100000"/>
              <a:buNone/>
            </a:pPr>
            <a:r>
              <a:t/>
            </a:r>
            <a:endParaRPr sz="1400">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rPr b="1" lang="it-IT" sz="1400">
                <a:latin typeface="Arial"/>
                <a:ea typeface="Arial"/>
                <a:cs typeface="Arial"/>
                <a:sym typeface="Arial"/>
              </a:rPr>
              <a:t>ISO/IEC 27001</a:t>
            </a:r>
            <a:endParaRPr/>
          </a:p>
          <a:p>
            <a:pPr indent="0" lvl="0" marL="0" rtl="0" algn="l">
              <a:lnSpc>
                <a:spcPct val="90000"/>
              </a:lnSpc>
              <a:spcBef>
                <a:spcPts val="1000"/>
              </a:spcBef>
              <a:spcAft>
                <a:spcPts val="0"/>
              </a:spcAft>
              <a:buClr>
                <a:schemeClr val="dk1"/>
              </a:buClr>
              <a:buSzPct val="100000"/>
              <a:buNone/>
            </a:pPr>
            <a:r>
              <a:rPr lang="it-IT" sz="1400">
                <a:latin typeface="Arial"/>
                <a:ea typeface="Arial"/>
                <a:cs typeface="Arial"/>
                <a:sym typeface="Arial"/>
              </a:rPr>
              <a:t>      Scope: International standard (latest 2022) for Information Security Management Systems (ISMS), widely adopted across sectors. </a:t>
            </a:r>
            <a:endParaRPr/>
          </a:p>
          <a:p>
            <a:pPr indent="0" lvl="0" marL="0" rtl="0" algn="l">
              <a:lnSpc>
                <a:spcPct val="90000"/>
              </a:lnSpc>
              <a:spcBef>
                <a:spcPts val="1000"/>
              </a:spcBef>
              <a:spcAft>
                <a:spcPts val="0"/>
              </a:spcAft>
              <a:buClr>
                <a:schemeClr val="dk1"/>
              </a:buClr>
              <a:buSzPct val="100000"/>
              <a:buNone/>
            </a:pPr>
            <a:r>
              <a:t/>
            </a:r>
            <a:endParaRPr sz="1400">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rPr b="1" lang="it-IT" sz="1400">
                <a:latin typeface="Arial"/>
                <a:ea typeface="Arial"/>
                <a:cs typeface="Arial"/>
                <a:sym typeface="Arial"/>
              </a:rPr>
              <a:t>PCI-DSS (Payment Card Industry Data Security Standard)</a:t>
            </a:r>
            <a:endParaRPr/>
          </a:p>
          <a:p>
            <a:pPr indent="0" lvl="0" marL="0" rtl="0" algn="l">
              <a:lnSpc>
                <a:spcPct val="90000"/>
              </a:lnSpc>
              <a:spcBef>
                <a:spcPts val="1000"/>
              </a:spcBef>
              <a:spcAft>
                <a:spcPts val="0"/>
              </a:spcAft>
              <a:buClr>
                <a:schemeClr val="dk1"/>
              </a:buClr>
              <a:buSzPct val="100000"/>
              <a:buNone/>
            </a:pPr>
            <a:r>
              <a:rPr lang="it-IT" sz="1400">
                <a:latin typeface="Arial"/>
                <a:ea typeface="Arial"/>
                <a:cs typeface="Arial"/>
                <a:sym typeface="Arial"/>
              </a:rPr>
              <a:t>      Scope: Standard (v4.0.1, 2024) for securing cardholder data in finance, enforced by payment brands (e.g., Visa).  </a:t>
            </a:r>
            <a:endParaRPr/>
          </a:p>
          <a:p>
            <a:pPr indent="0" lvl="0" marL="0" rtl="0" algn="l">
              <a:lnSpc>
                <a:spcPct val="90000"/>
              </a:lnSpc>
              <a:spcBef>
                <a:spcPts val="1000"/>
              </a:spcBef>
              <a:spcAft>
                <a:spcPts val="0"/>
              </a:spcAft>
              <a:buClr>
                <a:schemeClr val="dk1"/>
              </a:buClr>
              <a:buSzPct val="100000"/>
              <a:buNone/>
            </a:pPr>
            <a:r>
              <a:t/>
            </a:r>
            <a:endParaRPr sz="1400">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t/>
            </a:r>
            <a:endParaRPr sz="1400">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t/>
            </a:r>
            <a:endParaRPr sz="1400">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t/>
            </a:r>
            <a:endParaRPr sz="1400">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t/>
            </a:r>
            <a:endParaRPr sz="14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2025-03-02T16:54:38Z</dcterms:created>
  <dc:creator>Fabio Varignana</dc:creator>
</cp:coreProperties>
</file>